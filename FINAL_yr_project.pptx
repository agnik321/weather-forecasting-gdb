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4" r:id="rId13"/>
    <p:sldId id="280" r:id="rId14"/>
    <p:sldId id="275" r:id="rId15"/>
    <p:sldId id="268" r:id="rId16"/>
    <p:sldId id="270" r:id="rId17"/>
    <p:sldId id="277" r:id="rId18"/>
    <p:sldId id="272" r:id="rId19"/>
    <p:sldId id="278" r:id="rId20"/>
    <p:sldId id="276" r:id="rId21"/>
    <p:sldId id="279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7D2E1"/>
    <a:srgbClr val="EE9D05"/>
    <a:srgbClr val="FEF0BF"/>
    <a:srgbClr val="A04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>
        <p:scale>
          <a:sx n="125" d="100"/>
          <a:sy n="125" d="100"/>
        </p:scale>
        <p:origin x="-1664" y="-1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image" Target="../media/image24.jp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image" Target="../media/image2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9CEE3C-D06C-412D-8D98-4E532ED6E1F0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18F6512-39D9-4B3D-8BE2-44C614675DD1}">
      <dgm:prSet phldrT="[Text]" phldr="0" custT="1"/>
      <dgm:spPr/>
      <dgm:t>
        <a:bodyPr/>
        <a:lstStyle/>
        <a:p>
          <a:r>
            <a:rPr lang="en-IN" sz="2500" dirty="0"/>
            <a:t> </a:t>
          </a:r>
        </a:p>
      </dgm:t>
    </dgm:pt>
    <dgm:pt modelId="{BE4B5E74-BF34-4708-BFFF-9FB4A0D12D9F}" type="parTrans" cxnId="{73AAD7A3-9028-40FB-ABEA-1544CC2D554E}">
      <dgm:prSet/>
      <dgm:spPr/>
      <dgm:t>
        <a:bodyPr/>
        <a:lstStyle/>
        <a:p>
          <a:endParaRPr lang="en-IN"/>
        </a:p>
      </dgm:t>
    </dgm:pt>
    <dgm:pt modelId="{4B7E8660-6C76-4C2C-86B4-1F7C926F30BD}" type="sibTrans" cxnId="{73AAD7A3-9028-40FB-ABEA-1544CC2D554E}">
      <dgm:prSet/>
      <dgm:spPr/>
      <dgm:t>
        <a:bodyPr/>
        <a:lstStyle/>
        <a:p>
          <a:endParaRPr lang="en-IN"/>
        </a:p>
      </dgm:t>
    </dgm:pt>
    <dgm:pt modelId="{8B2F617D-B5CB-4990-9B82-083D62173511}">
      <dgm:prSet phldrT="[Text]" custT="1"/>
      <dgm:spPr/>
      <dgm:t>
        <a:bodyPr/>
        <a:lstStyle/>
        <a:p>
          <a:pPr>
            <a:buNone/>
          </a:pPr>
          <a:r>
            <a:rPr lang="en-IN" sz="2200" dirty="0"/>
            <a:t>Analyse Local Weather Data</a:t>
          </a:r>
        </a:p>
      </dgm:t>
    </dgm:pt>
    <dgm:pt modelId="{FAE5CDF1-B80C-4AE7-BBEE-21F8595EB926}" type="parTrans" cxnId="{F8A8EDA4-BE3F-437E-B98C-73E2801EBCB3}">
      <dgm:prSet/>
      <dgm:spPr/>
      <dgm:t>
        <a:bodyPr/>
        <a:lstStyle/>
        <a:p>
          <a:endParaRPr lang="en-IN"/>
        </a:p>
      </dgm:t>
    </dgm:pt>
    <dgm:pt modelId="{30151A9C-E907-4E65-90CA-9A405C42D42F}" type="sibTrans" cxnId="{F8A8EDA4-BE3F-437E-B98C-73E2801EBCB3}">
      <dgm:prSet/>
      <dgm:spPr/>
      <dgm:t>
        <a:bodyPr/>
        <a:lstStyle/>
        <a:p>
          <a:endParaRPr lang="en-IN"/>
        </a:p>
      </dgm:t>
    </dgm:pt>
    <dgm:pt modelId="{F43689DB-EA33-416F-9091-5FCCAD85C7DA}">
      <dgm:prSet phldrT="[Text]" custT="1"/>
      <dgm:spPr/>
      <dgm:t>
        <a:bodyPr/>
        <a:lstStyle/>
        <a:p>
          <a:endParaRPr lang="en-IN" sz="2500" dirty="0"/>
        </a:p>
      </dgm:t>
    </dgm:pt>
    <dgm:pt modelId="{0AE7D0F9-DEDA-48C1-83BB-AA9629ACAF31}" type="parTrans" cxnId="{09C30051-7C9B-4EE6-BB5D-ABDD0EF6891D}">
      <dgm:prSet/>
      <dgm:spPr/>
      <dgm:t>
        <a:bodyPr/>
        <a:lstStyle/>
        <a:p>
          <a:endParaRPr lang="en-IN"/>
        </a:p>
      </dgm:t>
    </dgm:pt>
    <dgm:pt modelId="{A4A89950-17BC-4535-884E-7E70572E5912}" type="sibTrans" cxnId="{09C30051-7C9B-4EE6-BB5D-ABDD0EF6891D}">
      <dgm:prSet/>
      <dgm:spPr/>
      <dgm:t>
        <a:bodyPr/>
        <a:lstStyle/>
        <a:p>
          <a:endParaRPr lang="en-IN"/>
        </a:p>
      </dgm:t>
    </dgm:pt>
    <dgm:pt modelId="{E5DEDEBE-C358-4740-B7BE-84567E54FA2C}">
      <dgm:prSet phldrT="[Text]" custT="1"/>
      <dgm:spPr/>
      <dgm:t>
        <a:bodyPr/>
        <a:lstStyle/>
        <a:p>
          <a:pPr>
            <a:buNone/>
          </a:pPr>
          <a:r>
            <a:rPr lang="en-IN" sz="2200" b="1" dirty="0"/>
            <a:t>Dual-Stage </a:t>
          </a:r>
          <a:r>
            <a:rPr lang="en-IN" sz="2200" b="1" dirty="0" err="1"/>
            <a:t>GBM</a:t>
          </a:r>
          <a:r>
            <a:rPr lang="en-IN" sz="2200" b="1" dirty="0"/>
            <a:t> Architecture </a:t>
          </a:r>
          <a:r>
            <a:rPr lang="en-IN" sz="2200" dirty="0"/>
            <a:t>for predicating weather pattern</a:t>
          </a:r>
        </a:p>
      </dgm:t>
    </dgm:pt>
    <dgm:pt modelId="{F4EBA859-E01A-460C-9FC1-DF12EC1D0ABA}" type="parTrans" cxnId="{FC639180-AD2B-4F78-B218-041FC7C9A3D8}">
      <dgm:prSet/>
      <dgm:spPr/>
      <dgm:t>
        <a:bodyPr/>
        <a:lstStyle/>
        <a:p>
          <a:endParaRPr lang="en-IN"/>
        </a:p>
      </dgm:t>
    </dgm:pt>
    <dgm:pt modelId="{84EE21FB-08E8-4399-8350-704B1D1B19F3}" type="sibTrans" cxnId="{FC639180-AD2B-4F78-B218-041FC7C9A3D8}">
      <dgm:prSet/>
      <dgm:spPr/>
      <dgm:t>
        <a:bodyPr/>
        <a:lstStyle/>
        <a:p>
          <a:endParaRPr lang="en-IN"/>
        </a:p>
      </dgm:t>
    </dgm:pt>
    <dgm:pt modelId="{E957800A-D2C9-49ED-B304-8B7F56427E2A}">
      <dgm:prSet phldrT="[Text]" phldr="0" custT="1"/>
      <dgm:spPr/>
      <dgm:t>
        <a:bodyPr/>
        <a:lstStyle/>
        <a:p>
          <a:endParaRPr lang="en-IN" sz="1900" dirty="0"/>
        </a:p>
      </dgm:t>
    </dgm:pt>
    <dgm:pt modelId="{5DA37D9F-BD01-4360-B180-8F399FEFF9B2}" type="parTrans" cxnId="{7F1055E3-D38C-4BAD-89F2-3B9670243303}">
      <dgm:prSet/>
      <dgm:spPr/>
      <dgm:t>
        <a:bodyPr/>
        <a:lstStyle/>
        <a:p>
          <a:endParaRPr lang="en-IN"/>
        </a:p>
      </dgm:t>
    </dgm:pt>
    <dgm:pt modelId="{9D8D6706-347F-49CA-9F99-2FEAD61EE8C4}" type="sibTrans" cxnId="{7F1055E3-D38C-4BAD-89F2-3B9670243303}">
      <dgm:prSet/>
      <dgm:spPr/>
      <dgm:t>
        <a:bodyPr/>
        <a:lstStyle/>
        <a:p>
          <a:endParaRPr lang="en-IN"/>
        </a:p>
      </dgm:t>
    </dgm:pt>
    <dgm:pt modelId="{00330F44-60EA-4EE7-9B0F-0A6F254F0335}">
      <dgm:prSet phldrT="[Text]" custT="1"/>
      <dgm:spPr/>
      <dgm:t>
        <a:bodyPr/>
        <a:lstStyle/>
        <a:p>
          <a:pPr>
            <a:buNone/>
          </a:pPr>
          <a:r>
            <a:rPr lang="en-IN" sz="2200" dirty="0"/>
            <a:t>Feature Pipeline Engineering</a:t>
          </a:r>
        </a:p>
      </dgm:t>
    </dgm:pt>
    <dgm:pt modelId="{69DE3A90-2901-40E6-B49E-F7B1EAEBAA36}" type="parTrans" cxnId="{DB22F8CA-B1E9-4ECE-9ED8-4B67148BD184}">
      <dgm:prSet/>
      <dgm:spPr/>
      <dgm:t>
        <a:bodyPr/>
        <a:lstStyle/>
        <a:p>
          <a:endParaRPr lang="en-IN"/>
        </a:p>
      </dgm:t>
    </dgm:pt>
    <dgm:pt modelId="{46026D41-68EE-461D-B2C3-9C3588A89C41}" type="sibTrans" cxnId="{DB22F8CA-B1E9-4ECE-9ED8-4B67148BD184}">
      <dgm:prSet/>
      <dgm:spPr/>
      <dgm:t>
        <a:bodyPr/>
        <a:lstStyle/>
        <a:p>
          <a:endParaRPr lang="en-IN"/>
        </a:p>
      </dgm:t>
    </dgm:pt>
    <dgm:pt modelId="{726C97DB-7248-4AC8-93E9-409DCD44CE90}" type="pres">
      <dgm:prSet presAssocID="{299CEE3C-D06C-412D-8D98-4E532ED6E1F0}" presName="Name0" presStyleCnt="0">
        <dgm:presLayoutVars>
          <dgm:chMax/>
          <dgm:chPref/>
          <dgm:dir/>
        </dgm:presLayoutVars>
      </dgm:prSet>
      <dgm:spPr/>
    </dgm:pt>
    <dgm:pt modelId="{D51853C5-A83A-44AE-A718-7A5AA38A6475}" type="pres">
      <dgm:prSet presAssocID="{C18F6512-39D9-4B3D-8BE2-44C614675DD1}" presName="parenttextcomposite" presStyleCnt="0"/>
      <dgm:spPr/>
    </dgm:pt>
    <dgm:pt modelId="{06DD64F4-6D96-4545-9EC8-942422F9B7A3}" type="pres">
      <dgm:prSet presAssocID="{C18F6512-39D9-4B3D-8BE2-44C614675DD1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A2A9E558-F715-4355-A8FF-C86A5E30859D}" type="pres">
      <dgm:prSet presAssocID="{C18F6512-39D9-4B3D-8BE2-44C614675DD1}" presName="composite" presStyleCnt="0"/>
      <dgm:spPr/>
    </dgm:pt>
    <dgm:pt modelId="{369D6443-92DF-458E-816A-7660DBDACDB0}" type="pres">
      <dgm:prSet presAssocID="{C18F6512-39D9-4B3D-8BE2-44C614675DD1}" presName="chevron1" presStyleLbl="alignNode1" presStyleIdx="0" presStyleCnt="21"/>
      <dgm:spPr/>
    </dgm:pt>
    <dgm:pt modelId="{9892311B-98DF-4F43-B905-CD2043EE9C7A}" type="pres">
      <dgm:prSet presAssocID="{C18F6512-39D9-4B3D-8BE2-44C614675DD1}" presName="chevron2" presStyleLbl="alignNode1" presStyleIdx="1" presStyleCnt="21"/>
      <dgm:spPr/>
    </dgm:pt>
    <dgm:pt modelId="{D330D9A1-FCEF-4B7C-A414-F1AC3BC9E459}" type="pres">
      <dgm:prSet presAssocID="{C18F6512-39D9-4B3D-8BE2-44C614675DD1}" presName="chevron3" presStyleLbl="alignNode1" presStyleIdx="2" presStyleCnt="21"/>
      <dgm:spPr/>
    </dgm:pt>
    <dgm:pt modelId="{3F0AA653-7464-4353-AA1D-4E0895EBD8ED}" type="pres">
      <dgm:prSet presAssocID="{C18F6512-39D9-4B3D-8BE2-44C614675DD1}" presName="chevron4" presStyleLbl="alignNode1" presStyleIdx="3" presStyleCnt="21"/>
      <dgm:spPr/>
    </dgm:pt>
    <dgm:pt modelId="{3BAC2E03-141D-4C3E-9350-38C6182298FD}" type="pres">
      <dgm:prSet presAssocID="{C18F6512-39D9-4B3D-8BE2-44C614675DD1}" presName="chevron5" presStyleLbl="alignNode1" presStyleIdx="4" presStyleCnt="21"/>
      <dgm:spPr/>
    </dgm:pt>
    <dgm:pt modelId="{DE4B4478-C0AB-40AC-80F0-5990D633DAA9}" type="pres">
      <dgm:prSet presAssocID="{C18F6512-39D9-4B3D-8BE2-44C614675DD1}" presName="chevron6" presStyleLbl="alignNode1" presStyleIdx="5" presStyleCnt="21"/>
      <dgm:spPr/>
    </dgm:pt>
    <dgm:pt modelId="{D6EA39EC-F556-4338-8410-10C08F8C2D33}" type="pres">
      <dgm:prSet presAssocID="{C18F6512-39D9-4B3D-8BE2-44C614675DD1}" presName="chevron7" presStyleLbl="alignNode1" presStyleIdx="6" presStyleCnt="21"/>
      <dgm:spPr/>
    </dgm:pt>
    <dgm:pt modelId="{CAE56438-B7DE-4CC0-8C53-E7BAD3F7AC07}" type="pres">
      <dgm:prSet presAssocID="{C18F6512-39D9-4B3D-8BE2-44C614675DD1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B8E1AD52-2F43-4F46-B86C-EF66931FD4C1}" type="pres">
      <dgm:prSet presAssocID="{4B7E8660-6C76-4C2C-86B4-1F7C926F30BD}" presName="sibTrans" presStyleCnt="0"/>
      <dgm:spPr/>
    </dgm:pt>
    <dgm:pt modelId="{CF5890BC-B21F-4D3F-9247-32A240E79DC1}" type="pres">
      <dgm:prSet presAssocID="{E957800A-D2C9-49ED-B304-8B7F56427E2A}" presName="parenttextcomposite" presStyleCnt="0"/>
      <dgm:spPr/>
    </dgm:pt>
    <dgm:pt modelId="{C8BE791A-B0B3-45FD-B94D-FD84EA6E945B}" type="pres">
      <dgm:prSet presAssocID="{E957800A-D2C9-49ED-B304-8B7F56427E2A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4B45B305-5DCA-4E9B-BA5A-213A14D20CD3}" type="pres">
      <dgm:prSet presAssocID="{E957800A-D2C9-49ED-B304-8B7F56427E2A}" presName="composite" presStyleCnt="0"/>
      <dgm:spPr/>
    </dgm:pt>
    <dgm:pt modelId="{65C29265-C774-41DF-9616-02EADAA6324C}" type="pres">
      <dgm:prSet presAssocID="{E957800A-D2C9-49ED-B304-8B7F56427E2A}" presName="chevron1" presStyleLbl="alignNode1" presStyleIdx="7" presStyleCnt="21"/>
      <dgm:spPr/>
    </dgm:pt>
    <dgm:pt modelId="{F275E900-9262-41B8-8B10-A0DD36E106BC}" type="pres">
      <dgm:prSet presAssocID="{E957800A-D2C9-49ED-B304-8B7F56427E2A}" presName="chevron2" presStyleLbl="alignNode1" presStyleIdx="8" presStyleCnt="21"/>
      <dgm:spPr/>
    </dgm:pt>
    <dgm:pt modelId="{0A938407-BB57-4EAE-BAF4-8D6D9C6D85E0}" type="pres">
      <dgm:prSet presAssocID="{E957800A-D2C9-49ED-B304-8B7F56427E2A}" presName="chevron3" presStyleLbl="alignNode1" presStyleIdx="9" presStyleCnt="21"/>
      <dgm:spPr/>
    </dgm:pt>
    <dgm:pt modelId="{4A2F71AC-BF5E-4EB8-8600-A78443D0C73C}" type="pres">
      <dgm:prSet presAssocID="{E957800A-D2C9-49ED-B304-8B7F56427E2A}" presName="chevron4" presStyleLbl="alignNode1" presStyleIdx="10" presStyleCnt="21"/>
      <dgm:spPr/>
    </dgm:pt>
    <dgm:pt modelId="{61D87907-56AA-41F0-9E1E-88A85EC7DC1B}" type="pres">
      <dgm:prSet presAssocID="{E957800A-D2C9-49ED-B304-8B7F56427E2A}" presName="chevron5" presStyleLbl="alignNode1" presStyleIdx="11" presStyleCnt="21"/>
      <dgm:spPr/>
    </dgm:pt>
    <dgm:pt modelId="{0036FF2D-240A-4F6C-8C35-01A06DE3717E}" type="pres">
      <dgm:prSet presAssocID="{E957800A-D2C9-49ED-B304-8B7F56427E2A}" presName="chevron6" presStyleLbl="alignNode1" presStyleIdx="12" presStyleCnt="21"/>
      <dgm:spPr/>
    </dgm:pt>
    <dgm:pt modelId="{C90CAA7F-CCF1-4BC7-A64D-CFD4B84C6A45}" type="pres">
      <dgm:prSet presAssocID="{E957800A-D2C9-49ED-B304-8B7F56427E2A}" presName="chevron7" presStyleLbl="alignNode1" presStyleIdx="13" presStyleCnt="21"/>
      <dgm:spPr/>
    </dgm:pt>
    <dgm:pt modelId="{20AFA3E1-87D6-48B5-91DD-FDEE8BFC07E4}" type="pres">
      <dgm:prSet presAssocID="{E957800A-D2C9-49ED-B304-8B7F56427E2A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A402D331-E2F6-41BE-9E17-205BD98E6894}" type="pres">
      <dgm:prSet presAssocID="{9D8D6706-347F-49CA-9F99-2FEAD61EE8C4}" presName="sibTrans" presStyleCnt="0"/>
      <dgm:spPr/>
    </dgm:pt>
    <dgm:pt modelId="{A87984BB-E759-4AD9-A4FA-555E7AC4A041}" type="pres">
      <dgm:prSet presAssocID="{F43689DB-EA33-416F-9091-5FCCAD85C7DA}" presName="parenttextcomposite" presStyleCnt="0"/>
      <dgm:spPr/>
    </dgm:pt>
    <dgm:pt modelId="{6BE2B037-9F70-42A2-A10E-EB842A3F19C7}" type="pres">
      <dgm:prSet presAssocID="{F43689DB-EA33-416F-9091-5FCCAD85C7DA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8D3BDEB8-C0EB-4B2C-A9BF-A3AB3BD56B62}" type="pres">
      <dgm:prSet presAssocID="{F43689DB-EA33-416F-9091-5FCCAD85C7DA}" presName="composite" presStyleCnt="0"/>
      <dgm:spPr/>
    </dgm:pt>
    <dgm:pt modelId="{454763CC-4F4A-40B9-AF78-DAFF3E8D702B}" type="pres">
      <dgm:prSet presAssocID="{F43689DB-EA33-416F-9091-5FCCAD85C7DA}" presName="chevron1" presStyleLbl="alignNode1" presStyleIdx="14" presStyleCnt="21"/>
      <dgm:spPr/>
    </dgm:pt>
    <dgm:pt modelId="{E0248EE0-47E6-41EB-A80E-C75B05F17C6A}" type="pres">
      <dgm:prSet presAssocID="{F43689DB-EA33-416F-9091-5FCCAD85C7DA}" presName="chevron2" presStyleLbl="alignNode1" presStyleIdx="15" presStyleCnt="21"/>
      <dgm:spPr/>
    </dgm:pt>
    <dgm:pt modelId="{4E4B6B41-70B1-4774-A6F9-3D842FC6CF48}" type="pres">
      <dgm:prSet presAssocID="{F43689DB-EA33-416F-9091-5FCCAD85C7DA}" presName="chevron3" presStyleLbl="alignNode1" presStyleIdx="16" presStyleCnt="21"/>
      <dgm:spPr/>
    </dgm:pt>
    <dgm:pt modelId="{9954ED4F-4C7F-4EEF-89B5-C3E6DEB51557}" type="pres">
      <dgm:prSet presAssocID="{F43689DB-EA33-416F-9091-5FCCAD85C7DA}" presName="chevron4" presStyleLbl="alignNode1" presStyleIdx="17" presStyleCnt="21"/>
      <dgm:spPr/>
    </dgm:pt>
    <dgm:pt modelId="{33D61405-E647-476D-BA65-48CCBD8D934D}" type="pres">
      <dgm:prSet presAssocID="{F43689DB-EA33-416F-9091-5FCCAD85C7DA}" presName="chevron5" presStyleLbl="alignNode1" presStyleIdx="18" presStyleCnt="21"/>
      <dgm:spPr/>
    </dgm:pt>
    <dgm:pt modelId="{B27838E6-4985-47B3-9328-5A71455FF982}" type="pres">
      <dgm:prSet presAssocID="{F43689DB-EA33-416F-9091-5FCCAD85C7DA}" presName="chevron6" presStyleLbl="alignNode1" presStyleIdx="19" presStyleCnt="21"/>
      <dgm:spPr/>
    </dgm:pt>
    <dgm:pt modelId="{3A764500-78DE-4BC2-AAA1-184FECE63BAE}" type="pres">
      <dgm:prSet presAssocID="{F43689DB-EA33-416F-9091-5FCCAD85C7DA}" presName="chevron7" presStyleLbl="alignNode1" presStyleIdx="20" presStyleCnt="21"/>
      <dgm:spPr/>
    </dgm:pt>
    <dgm:pt modelId="{7772EF56-FFE4-44D9-BADA-FCF13B40DC9E}" type="pres">
      <dgm:prSet presAssocID="{F43689DB-EA33-416F-9091-5FCCAD85C7DA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2814AD22-B53F-4BE1-929F-9CE48A4D65CE}" type="presOf" srcId="{00330F44-60EA-4EE7-9B0F-0A6F254F0335}" destId="{20AFA3E1-87D6-48B5-91DD-FDEE8BFC07E4}" srcOrd="0" destOrd="0" presId="urn:microsoft.com/office/officeart/2008/layout/VerticalAccentList"/>
    <dgm:cxn modelId="{A1EDC52D-78F8-442B-8566-1E7A4D9A8FFE}" type="presOf" srcId="{F43689DB-EA33-416F-9091-5FCCAD85C7DA}" destId="{6BE2B037-9F70-42A2-A10E-EB842A3F19C7}" srcOrd="0" destOrd="0" presId="urn:microsoft.com/office/officeart/2008/layout/VerticalAccentList"/>
    <dgm:cxn modelId="{3E28D934-20AE-4190-94E1-3CB29E6EC86E}" type="presOf" srcId="{E5DEDEBE-C358-4740-B7BE-84567E54FA2C}" destId="{7772EF56-FFE4-44D9-BADA-FCF13B40DC9E}" srcOrd="0" destOrd="0" presId="urn:microsoft.com/office/officeart/2008/layout/VerticalAccentList"/>
    <dgm:cxn modelId="{A99C693E-0884-4FB4-879C-3E73E8DE570E}" type="presOf" srcId="{8B2F617D-B5CB-4990-9B82-083D62173511}" destId="{CAE56438-B7DE-4CC0-8C53-E7BAD3F7AC07}" srcOrd="0" destOrd="0" presId="urn:microsoft.com/office/officeart/2008/layout/VerticalAccentList"/>
    <dgm:cxn modelId="{36A53440-C687-46A9-A1D6-C241595F78AB}" type="presOf" srcId="{E957800A-D2C9-49ED-B304-8B7F56427E2A}" destId="{C8BE791A-B0B3-45FD-B94D-FD84EA6E945B}" srcOrd="0" destOrd="0" presId="urn:microsoft.com/office/officeart/2008/layout/VerticalAccentList"/>
    <dgm:cxn modelId="{09C30051-7C9B-4EE6-BB5D-ABDD0EF6891D}" srcId="{299CEE3C-D06C-412D-8D98-4E532ED6E1F0}" destId="{F43689DB-EA33-416F-9091-5FCCAD85C7DA}" srcOrd="2" destOrd="0" parTransId="{0AE7D0F9-DEDA-48C1-83BB-AA9629ACAF31}" sibTransId="{A4A89950-17BC-4535-884E-7E70572E5912}"/>
    <dgm:cxn modelId="{FC639180-AD2B-4F78-B218-041FC7C9A3D8}" srcId="{F43689DB-EA33-416F-9091-5FCCAD85C7DA}" destId="{E5DEDEBE-C358-4740-B7BE-84567E54FA2C}" srcOrd="0" destOrd="0" parTransId="{F4EBA859-E01A-460C-9FC1-DF12EC1D0ABA}" sibTransId="{84EE21FB-08E8-4399-8350-704B1D1B19F3}"/>
    <dgm:cxn modelId="{73AAD7A3-9028-40FB-ABEA-1544CC2D554E}" srcId="{299CEE3C-D06C-412D-8D98-4E532ED6E1F0}" destId="{C18F6512-39D9-4B3D-8BE2-44C614675DD1}" srcOrd="0" destOrd="0" parTransId="{BE4B5E74-BF34-4708-BFFF-9FB4A0D12D9F}" sibTransId="{4B7E8660-6C76-4C2C-86B4-1F7C926F30BD}"/>
    <dgm:cxn modelId="{F8A8EDA4-BE3F-437E-B98C-73E2801EBCB3}" srcId="{C18F6512-39D9-4B3D-8BE2-44C614675DD1}" destId="{8B2F617D-B5CB-4990-9B82-083D62173511}" srcOrd="0" destOrd="0" parTransId="{FAE5CDF1-B80C-4AE7-BBEE-21F8595EB926}" sibTransId="{30151A9C-E907-4E65-90CA-9A405C42D42F}"/>
    <dgm:cxn modelId="{3B3D70AE-D6AA-4536-A402-652055188FF2}" type="presOf" srcId="{C18F6512-39D9-4B3D-8BE2-44C614675DD1}" destId="{06DD64F4-6D96-4545-9EC8-942422F9B7A3}" srcOrd="0" destOrd="0" presId="urn:microsoft.com/office/officeart/2008/layout/VerticalAccentList"/>
    <dgm:cxn modelId="{DB22F8CA-B1E9-4ECE-9ED8-4B67148BD184}" srcId="{E957800A-D2C9-49ED-B304-8B7F56427E2A}" destId="{00330F44-60EA-4EE7-9B0F-0A6F254F0335}" srcOrd="0" destOrd="0" parTransId="{69DE3A90-2901-40E6-B49E-F7B1EAEBAA36}" sibTransId="{46026D41-68EE-461D-B2C3-9C3588A89C41}"/>
    <dgm:cxn modelId="{7F1055E3-D38C-4BAD-89F2-3B9670243303}" srcId="{299CEE3C-D06C-412D-8D98-4E532ED6E1F0}" destId="{E957800A-D2C9-49ED-B304-8B7F56427E2A}" srcOrd="1" destOrd="0" parTransId="{5DA37D9F-BD01-4360-B180-8F399FEFF9B2}" sibTransId="{9D8D6706-347F-49CA-9F99-2FEAD61EE8C4}"/>
    <dgm:cxn modelId="{A69A1BFB-9C97-49C4-888B-D93D661990EB}" type="presOf" srcId="{299CEE3C-D06C-412D-8D98-4E532ED6E1F0}" destId="{726C97DB-7248-4AC8-93E9-409DCD44CE90}" srcOrd="0" destOrd="0" presId="urn:microsoft.com/office/officeart/2008/layout/VerticalAccentList"/>
    <dgm:cxn modelId="{3D2CD7B0-E3A0-4B9A-B3EA-D5F30366C766}" type="presParOf" srcId="{726C97DB-7248-4AC8-93E9-409DCD44CE90}" destId="{D51853C5-A83A-44AE-A718-7A5AA38A6475}" srcOrd="0" destOrd="0" presId="urn:microsoft.com/office/officeart/2008/layout/VerticalAccentList"/>
    <dgm:cxn modelId="{36F2E132-23B7-40B7-AE8F-D63A7793E1CE}" type="presParOf" srcId="{D51853C5-A83A-44AE-A718-7A5AA38A6475}" destId="{06DD64F4-6D96-4545-9EC8-942422F9B7A3}" srcOrd="0" destOrd="0" presId="urn:microsoft.com/office/officeart/2008/layout/VerticalAccentList"/>
    <dgm:cxn modelId="{502FE85C-656C-4630-962E-914E57F92834}" type="presParOf" srcId="{726C97DB-7248-4AC8-93E9-409DCD44CE90}" destId="{A2A9E558-F715-4355-A8FF-C86A5E30859D}" srcOrd="1" destOrd="0" presId="urn:microsoft.com/office/officeart/2008/layout/VerticalAccentList"/>
    <dgm:cxn modelId="{3E2E7E12-8F2A-4584-B8DA-C9F537F792F0}" type="presParOf" srcId="{A2A9E558-F715-4355-A8FF-C86A5E30859D}" destId="{369D6443-92DF-458E-816A-7660DBDACDB0}" srcOrd="0" destOrd="0" presId="urn:microsoft.com/office/officeart/2008/layout/VerticalAccentList"/>
    <dgm:cxn modelId="{F48C4014-FDBD-4AFD-84F0-A17938B27EE1}" type="presParOf" srcId="{A2A9E558-F715-4355-A8FF-C86A5E30859D}" destId="{9892311B-98DF-4F43-B905-CD2043EE9C7A}" srcOrd="1" destOrd="0" presId="urn:microsoft.com/office/officeart/2008/layout/VerticalAccentList"/>
    <dgm:cxn modelId="{D3DCF146-A661-4581-9D25-9F434C482F8C}" type="presParOf" srcId="{A2A9E558-F715-4355-A8FF-C86A5E30859D}" destId="{D330D9A1-FCEF-4B7C-A414-F1AC3BC9E459}" srcOrd="2" destOrd="0" presId="urn:microsoft.com/office/officeart/2008/layout/VerticalAccentList"/>
    <dgm:cxn modelId="{D33E4C22-F7C9-4F56-8363-53F0A6A03241}" type="presParOf" srcId="{A2A9E558-F715-4355-A8FF-C86A5E30859D}" destId="{3F0AA653-7464-4353-AA1D-4E0895EBD8ED}" srcOrd="3" destOrd="0" presId="urn:microsoft.com/office/officeart/2008/layout/VerticalAccentList"/>
    <dgm:cxn modelId="{DC9D8443-1102-4B0D-A317-23913B1AD3B2}" type="presParOf" srcId="{A2A9E558-F715-4355-A8FF-C86A5E30859D}" destId="{3BAC2E03-141D-4C3E-9350-38C6182298FD}" srcOrd="4" destOrd="0" presId="urn:microsoft.com/office/officeart/2008/layout/VerticalAccentList"/>
    <dgm:cxn modelId="{9543A40F-FAF0-4953-9F7B-8930FBE57322}" type="presParOf" srcId="{A2A9E558-F715-4355-A8FF-C86A5E30859D}" destId="{DE4B4478-C0AB-40AC-80F0-5990D633DAA9}" srcOrd="5" destOrd="0" presId="urn:microsoft.com/office/officeart/2008/layout/VerticalAccentList"/>
    <dgm:cxn modelId="{7EC49F20-85F2-427F-B9F0-167123A196AD}" type="presParOf" srcId="{A2A9E558-F715-4355-A8FF-C86A5E30859D}" destId="{D6EA39EC-F556-4338-8410-10C08F8C2D33}" srcOrd="6" destOrd="0" presId="urn:microsoft.com/office/officeart/2008/layout/VerticalAccentList"/>
    <dgm:cxn modelId="{5449152C-28AD-4E8E-8F80-05621005D030}" type="presParOf" srcId="{A2A9E558-F715-4355-A8FF-C86A5E30859D}" destId="{CAE56438-B7DE-4CC0-8C53-E7BAD3F7AC07}" srcOrd="7" destOrd="0" presId="urn:microsoft.com/office/officeart/2008/layout/VerticalAccentList"/>
    <dgm:cxn modelId="{FE37E031-DE27-448E-943D-843EC6623C3B}" type="presParOf" srcId="{726C97DB-7248-4AC8-93E9-409DCD44CE90}" destId="{B8E1AD52-2F43-4F46-B86C-EF66931FD4C1}" srcOrd="2" destOrd="0" presId="urn:microsoft.com/office/officeart/2008/layout/VerticalAccentList"/>
    <dgm:cxn modelId="{1A7984B8-9977-40AF-8ABC-0E8A318F50EE}" type="presParOf" srcId="{726C97DB-7248-4AC8-93E9-409DCD44CE90}" destId="{CF5890BC-B21F-4D3F-9247-32A240E79DC1}" srcOrd="3" destOrd="0" presId="urn:microsoft.com/office/officeart/2008/layout/VerticalAccentList"/>
    <dgm:cxn modelId="{19514048-D04A-4D7E-BD95-08CB49DF836A}" type="presParOf" srcId="{CF5890BC-B21F-4D3F-9247-32A240E79DC1}" destId="{C8BE791A-B0B3-45FD-B94D-FD84EA6E945B}" srcOrd="0" destOrd="0" presId="urn:microsoft.com/office/officeart/2008/layout/VerticalAccentList"/>
    <dgm:cxn modelId="{C18A43EC-F054-4158-BD59-D99E2C4933A3}" type="presParOf" srcId="{726C97DB-7248-4AC8-93E9-409DCD44CE90}" destId="{4B45B305-5DCA-4E9B-BA5A-213A14D20CD3}" srcOrd="4" destOrd="0" presId="urn:microsoft.com/office/officeart/2008/layout/VerticalAccentList"/>
    <dgm:cxn modelId="{45053173-FD4A-45A6-A82A-9E1F53182DC6}" type="presParOf" srcId="{4B45B305-5DCA-4E9B-BA5A-213A14D20CD3}" destId="{65C29265-C774-41DF-9616-02EADAA6324C}" srcOrd="0" destOrd="0" presId="urn:microsoft.com/office/officeart/2008/layout/VerticalAccentList"/>
    <dgm:cxn modelId="{9C9CDC70-6616-487A-942A-DB110BAE22A7}" type="presParOf" srcId="{4B45B305-5DCA-4E9B-BA5A-213A14D20CD3}" destId="{F275E900-9262-41B8-8B10-A0DD36E106BC}" srcOrd="1" destOrd="0" presId="urn:microsoft.com/office/officeart/2008/layout/VerticalAccentList"/>
    <dgm:cxn modelId="{F538D3AE-54DD-471A-A7E8-F71B603B31D6}" type="presParOf" srcId="{4B45B305-5DCA-4E9B-BA5A-213A14D20CD3}" destId="{0A938407-BB57-4EAE-BAF4-8D6D9C6D85E0}" srcOrd="2" destOrd="0" presId="urn:microsoft.com/office/officeart/2008/layout/VerticalAccentList"/>
    <dgm:cxn modelId="{263D1222-3C59-474D-A3BE-597ADE9FA572}" type="presParOf" srcId="{4B45B305-5DCA-4E9B-BA5A-213A14D20CD3}" destId="{4A2F71AC-BF5E-4EB8-8600-A78443D0C73C}" srcOrd="3" destOrd="0" presId="urn:microsoft.com/office/officeart/2008/layout/VerticalAccentList"/>
    <dgm:cxn modelId="{0755F37F-6E5D-4558-9760-B5C59DBCFC61}" type="presParOf" srcId="{4B45B305-5DCA-4E9B-BA5A-213A14D20CD3}" destId="{61D87907-56AA-41F0-9E1E-88A85EC7DC1B}" srcOrd="4" destOrd="0" presId="urn:microsoft.com/office/officeart/2008/layout/VerticalAccentList"/>
    <dgm:cxn modelId="{1D6902FA-57B8-44B8-A2CC-E4803EF41F6A}" type="presParOf" srcId="{4B45B305-5DCA-4E9B-BA5A-213A14D20CD3}" destId="{0036FF2D-240A-4F6C-8C35-01A06DE3717E}" srcOrd="5" destOrd="0" presId="urn:microsoft.com/office/officeart/2008/layout/VerticalAccentList"/>
    <dgm:cxn modelId="{B69D704F-3232-4720-9E3C-B126D8F8775B}" type="presParOf" srcId="{4B45B305-5DCA-4E9B-BA5A-213A14D20CD3}" destId="{C90CAA7F-CCF1-4BC7-A64D-CFD4B84C6A45}" srcOrd="6" destOrd="0" presId="urn:microsoft.com/office/officeart/2008/layout/VerticalAccentList"/>
    <dgm:cxn modelId="{88F57540-BB67-4448-84A4-9A5DA5BD8F49}" type="presParOf" srcId="{4B45B305-5DCA-4E9B-BA5A-213A14D20CD3}" destId="{20AFA3E1-87D6-48B5-91DD-FDEE8BFC07E4}" srcOrd="7" destOrd="0" presId="urn:microsoft.com/office/officeart/2008/layout/VerticalAccentList"/>
    <dgm:cxn modelId="{710063E9-826B-448A-87C6-3924BF72B43E}" type="presParOf" srcId="{726C97DB-7248-4AC8-93E9-409DCD44CE90}" destId="{A402D331-E2F6-41BE-9E17-205BD98E6894}" srcOrd="5" destOrd="0" presId="urn:microsoft.com/office/officeart/2008/layout/VerticalAccentList"/>
    <dgm:cxn modelId="{A6B34006-8CF0-4574-AA03-C7A6EAF11197}" type="presParOf" srcId="{726C97DB-7248-4AC8-93E9-409DCD44CE90}" destId="{A87984BB-E759-4AD9-A4FA-555E7AC4A041}" srcOrd="6" destOrd="0" presId="urn:microsoft.com/office/officeart/2008/layout/VerticalAccentList"/>
    <dgm:cxn modelId="{B1ECDFF6-FC72-4752-A122-26530DCC0EA3}" type="presParOf" srcId="{A87984BB-E759-4AD9-A4FA-555E7AC4A041}" destId="{6BE2B037-9F70-42A2-A10E-EB842A3F19C7}" srcOrd="0" destOrd="0" presId="urn:microsoft.com/office/officeart/2008/layout/VerticalAccentList"/>
    <dgm:cxn modelId="{6201AEE0-FC32-4DF3-A2DE-613C3F4C66FF}" type="presParOf" srcId="{726C97DB-7248-4AC8-93E9-409DCD44CE90}" destId="{8D3BDEB8-C0EB-4B2C-A9BF-A3AB3BD56B62}" srcOrd="7" destOrd="0" presId="urn:microsoft.com/office/officeart/2008/layout/VerticalAccentList"/>
    <dgm:cxn modelId="{5EDFBF86-781A-4C55-965C-23B62014F0E2}" type="presParOf" srcId="{8D3BDEB8-C0EB-4B2C-A9BF-A3AB3BD56B62}" destId="{454763CC-4F4A-40B9-AF78-DAFF3E8D702B}" srcOrd="0" destOrd="0" presId="urn:microsoft.com/office/officeart/2008/layout/VerticalAccentList"/>
    <dgm:cxn modelId="{35EB4C54-CB56-422A-A3AE-118F5BCD17B6}" type="presParOf" srcId="{8D3BDEB8-C0EB-4B2C-A9BF-A3AB3BD56B62}" destId="{E0248EE0-47E6-41EB-A80E-C75B05F17C6A}" srcOrd="1" destOrd="0" presId="urn:microsoft.com/office/officeart/2008/layout/VerticalAccentList"/>
    <dgm:cxn modelId="{35765DF5-A28C-4B15-91BA-C6A5ED92E5DB}" type="presParOf" srcId="{8D3BDEB8-C0EB-4B2C-A9BF-A3AB3BD56B62}" destId="{4E4B6B41-70B1-4774-A6F9-3D842FC6CF48}" srcOrd="2" destOrd="0" presId="urn:microsoft.com/office/officeart/2008/layout/VerticalAccentList"/>
    <dgm:cxn modelId="{58BD4734-2995-4A82-8FB2-00C4ED046C60}" type="presParOf" srcId="{8D3BDEB8-C0EB-4B2C-A9BF-A3AB3BD56B62}" destId="{9954ED4F-4C7F-4EEF-89B5-C3E6DEB51557}" srcOrd="3" destOrd="0" presId="urn:microsoft.com/office/officeart/2008/layout/VerticalAccentList"/>
    <dgm:cxn modelId="{D41392E9-84C7-471B-911A-D60894E227C9}" type="presParOf" srcId="{8D3BDEB8-C0EB-4B2C-A9BF-A3AB3BD56B62}" destId="{33D61405-E647-476D-BA65-48CCBD8D934D}" srcOrd="4" destOrd="0" presId="urn:microsoft.com/office/officeart/2008/layout/VerticalAccentList"/>
    <dgm:cxn modelId="{B93F024C-2CEB-4150-AEB1-D8E58477D2BC}" type="presParOf" srcId="{8D3BDEB8-C0EB-4B2C-A9BF-A3AB3BD56B62}" destId="{B27838E6-4985-47B3-9328-5A71455FF982}" srcOrd="5" destOrd="0" presId="urn:microsoft.com/office/officeart/2008/layout/VerticalAccentList"/>
    <dgm:cxn modelId="{E54309B0-4E85-4DE3-8711-DA83999A2EE0}" type="presParOf" srcId="{8D3BDEB8-C0EB-4B2C-A9BF-A3AB3BD56B62}" destId="{3A764500-78DE-4BC2-AAA1-184FECE63BAE}" srcOrd="6" destOrd="0" presId="urn:microsoft.com/office/officeart/2008/layout/VerticalAccentList"/>
    <dgm:cxn modelId="{0E226F62-0C49-46C4-989D-0B0AC0D254D5}" type="presParOf" srcId="{8D3BDEB8-C0EB-4B2C-A9BF-A3AB3BD56B62}" destId="{7772EF56-FFE4-44D9-BADA-FCF13B40DC9E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437957-7723-45C2-BD8B-78D5BA97498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B61061-0F44-4637-BB9B-9335E374309E}">
      <dgm:prSet phldrT="[Text]" phldr="0" custT="1"/>
      <dgm:spPr/>
      <dgm:t>
        <a:bodyPr/>
        <a:lstStyle/>
        <a:p>
          <a:r>
            <a:rPr lang="en-IN" sz="2400" dirty="0"/>
            <a:t>Problem</a:t>
          </a:r>
        </a:p>
      </dgm:t>
    </dgm:pt>
    <dgm:pt modelId="{95B0A651-2FC4-4960-848F-99F6A4C0A270}" type="parTrans" cxnId="{7EA40EAF-A686-440E-B775-8AD468CED5AA}">
      <dgm:prSet/>
      <dgm:spPr/>
      <dgm:t>
        <a:bodyPr/>
        <a:lstStyle/>
        <a:p>
          <a:endParaRPr lang="en-IN"/>
        </a:p>
      </dgm:t>
    </dgm:pt>
    <dgm:pt modelId="{0A547433-441C-4CF4-ABCB-2A67C98BB931}" type="sibTrans" cxnId="{7EA40EAF-A686-440E-B775-8AD468CED5AA}">
      <dgm:prSet/>
      <dgm:spPr/>
      <dgm:t>
        <a:bodyPr/>
        <a:lstStyle/>
        <a:p>
          <a:endParaRPr lang="en-IN"/>
        </a:p>
      </dgm:t>
    </dgm:pt>
    <dgm:pt modelId="{8CD16D2A-D3EC-40A5-B14A-36643B1BACB2}">
      <dgm:prSet phldrT="[Text]" phldr="0" custT="1"/>
      <dgm:spPr/>
      <dgm:t>
        <a:bodyPr/>
        <a:lstStyle/>
        <a:p>
          <a:r>
            <a:rPr lang="en-IN" sz="2400" dirty="0"/>
            <a:t>Opportunity</a:t>
          </a:r>
        </a:p>
      </dgm:t>
    </dgm:pt>
    <dgm:pt modelId="{D322E5A0-3D8A-465B-B72A-822A4ABFCE34}" type="parTrans" cxnId="{62FEFB59-F2EB-4D77-A293-A4D09879BBB9}">
      <dgm:prSet/>
      <dgm:spPr/>
      <dgm:t>
        <a:bodyPr/>
        <a:lstStyle/>
        <a:p>
          <a:endParaRPr lang="en-IN"/>
        </a:p>
      </dgm:t>
    </dgm:pt>
    <dgm:pt modelId="{8E2C0029-56AA-4E69-9488-AD866DB31909}" type="sibTrans" cxnId="{62FEFB59-F2EB-4D77-A293-A4D09879BBB9}">
      <dgm:prSet/>
      <dgm:spPr/>
      <dgm:t>
        <a:bodyPr/>
        <a:lstStyle/>
        <a:p>
          <a:endParaRPr lang="en-IN"/>
        </a:p>
      </dgm:t>
    </dgm:pt>
    <dgm:pt modelId="{522A373A-6259-45B8-B575-F066CA7B7F22}">
      <dgm:prSet phldrT="[Text]" phldr="0" custT="1"/>
      <dgm:spPr/>
      <dgm:t>
        <a:bodyPr/>
        <a:lstStyle/>
        <a:p>
          <a:r>
            <a:rPr lang="en-IN" sz="2400" dirty="0"/>
            <a:t>Solution</a:t>
          </a:r>
        </a:p>
      </dgm:t>
    </dgm:pt>
    <dgm:pt modelId="{BC0D3C43-2706-46C5-B0D9-2084D48E3B8B}" type="parTrans" cxnId="{F246ED10-C1D9-470B-BC70-A30DDB6FEEBD}">
      <dgm:prSet/>
      <dgm:spPr/>
      <dgm:t>
        <a:bodyPr/>
        <a:lstStyle/>
        <a:p>
          <a:endParaRPr lang="en-IN"/>
        </a:p>
      </dgm:t>
    </dgm:pt>
    <dgm:pt modelId="{B74CAA2C-7319-4C62-AC3F-11C654146305}" type="sibTrans" cxnId="{F246ED10-C1D9-470B-BC70-A30DDB6FEEBD}">
      <dgm:prSet/>
      <dgm:spPr/>
      <dgm:t>
        <a:bodyPr/>
        <a:lstStyle/>
        <a:p>
          <a:endParaRPr lang="en-IN"/>
        </a:p>
      </dgm:t>
    </dgm:pt>
    <dgm:pt modelId="{3D1080B3-7FA8-47A9-97EA-0A180A25BD65}">
      <dgm:prSet custT="1"/>
      <dgm:spPr/>
      <dgm:t>
        <a:bodyPr/>
        <a:lstStyle/>
        <a:p>
          <a:pPr algn="l"/>
          <a:r>
            <a:rPr lang="en-IN" sz="2200" dirty="0"/>
            <a:t>High-end </a:t>
          </a:r>
          <a:r>
            <a:rPr lang="en-IN" sz="2200" b="1" dirty="0"/>
            <a:t>NWP models </a:t>
          </a:r>
          <a:r>
            <a:rPr lang="en-IN" sz="2200" dirty="0"/>
            <a:t>are computationally expensive and fail to capture localized monsoon volatility in Kolkata</a:t>
          </a:r>
        </a:p>
      </dgm:t>
    </dgm:pt>
    <dgm:pt modelId="{24B4B1E0-983E-4CAB-BB68-533BDB996B91}" type="parTrans" cxnId="{2B2CC522-F297-4C73-AC37-FE20163D0361}">
      <dgm:prSet/>
      <dgm:spPr/>
      <dgm:t>
        <a:bodyPr/>
        <a:lstStyle/>
        <a:p>
          <a:endParaRPr lang="en-IN"/>
        </a:p>
      </dgm:t>
    </dgm:pt>
    <dgm:pt modelId="{83DA2E68-1328-4793-AAC6-5B75FDF55DC0}" type="sibTrans" cxnId="{2B2CC522-F297-4C73-AC37-FE20163D0361}">
      <dgm:prSet/>
      <dgm:spPr/>
      <dgm:t>
        <a:bodyPr/>
        <a:lstStyle/>
        <a:p>
          <a:endParaRPr lang="en-IN"/>
        </a:p>
      </dgm:t>
    </dgm:pt>
    <dgm:pt modelId="{5B9164C5-7FBA-4AFB-AB08-B430D8AEDF65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2200" dirty="0"/>
            <a:t>Big data and advanced machine learning offer modern alternatives to capture intricate, non-linear atmospheric patterns. </a:t>
          </a:r>
        </a:p>
      </dgm:t>
    </dgm:pt>
    <dgm:pt modelId="{8AC484BD-F8BC-4F96-A44B-A7A7DB48620F}" type="parTrans" cxnId="{E6E8A21E-2ACF-4879-B7C7-7E5C37F1DD5C}">
      <dgm:prSet/>
      <dgm:spPr/>
      <dgm:t>
        <a:bodyPr/>
        <a:lstStyle/>
        <a:p>
          <a:endParaRPr lang="en-IN"/>
        </a:p>
      </dgm:t>
    </dgm:pt>
    <dgm:pt modelId="{B92FEE82-C779-4557-BF69-90118DA59C27}" type="sibTrans" cxnId="{E6E8A21E-2ACF-4879-B7C7-7E5C37F1DD5C}">
      <dgm:prSet/>
      <dgm:spPr/>
      <dgm:t>
        <a:bodyPr/>
        <a:lstStyle/>
        <a:p>
          <a:endParaRPr lang="en-IN"/>
        </a:p>
      </dgm:t>
    </dgm:pt>
    <dgm:pt modelId="{D2E2EBD0-DD45-45D6-A4A2-ECFA72BE32EF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sz="2200" dirty="0"/>
            <a:t>We leverage </a:t>
          </a:r>
          <a:r>
            <a:rPr lang="en-IN" sz="2200" b="1" dirty="0"/>
            <a:t>NASA’s MERRA-2 and </a:t>
          </a:r>
          <a:r>
            <a:rPr lang="en-IN" sz="2200" b="1" dirty="0" err="1"/>
            <a:t>GPM</a:t>
          </a:r>
          <a:r>
            <a:rPr lang="en-IN" sz="2200" b="1" dirty="0"/>
            <a:t> satellite observations</a:t>
          </a:r>
          <a:r>
            <a:rPr lang="en-IN" sz="2200" dirty="0"/>
            <a:t> paired with a two-stage Gradient Boosting pipeline </a:t>
          </a:r>
        </a:p>
      </dgm:t>
    </dgm:pt>
    <dgm:pt modelId="{AE9BF837-705D-4DD8-969D-855B9B5F8811}" type="parTrans" cxnId="{ECDDD642-6CFF-46B0-8424-BF0A9D7EF5B1}">
      <dgm:prSet/>
      <dgm:spPr/>
      <dgm:t>
        <a:bodyPr/>
        <a:lstStyle/>
        <a:p>
          <a:endParaRPr lang="en-IN"/>
        </a:p>
      </dgm:t>
    </dgm:pt>
    <dgm:pt modelId="{8C3888AE-15C4-4486-B089-A4F436445C80}" type="sibTrans" cxnId="{ECDDD642-6CFF-46B0-8424-BF0A9D7EF5B1}">
      <dgm:prSet/>
      <dgm:spPr/>
      <dgm:t>
        <a:bodyPr/>
        <a:lstStyle/>
        <a:p>
          <a:endParaRPr lang="en-IN"/>
        </a:p>
      </dgm:t>
    </dgm:pt>
    <dgm:pt modelId="{739FAD39-A66B-4D31-AC73-4BE63117D078}" type="pres">
      <dgm:prSet presAssocID="{64437957-7723-45C2-BD8B-78D5BA974982}" presName="linear" presStyleCnt="0">
        <dgm:presLayoutVars>
          <dgm:dir/>
          <dgm:animLvl val="lvl"/>
          <dgm:resizeHandles val="exact"/>
        </dgm:presLayoutVars>
      </dgm:prSet>
      <dgm:spPr/>
    </dgm:pt>
    <dgm:pt modelId="{62DD243C-CFE8-4292-AEB5-EF8D362FC0D4}" type="pres">
      <dgm:prSet presAssocID="{D8B61061-0F44-4637-BB9B-9335E374309E}" presName="parentLin" presStyleCnt="0"/>
      <dgm:spPr/>
    </dgm:pt>
    <dgm:pt modelId="{8912679D-59A6-4D87-879A-632990DD3F6B}" type="pres">
      <dgm:prSet presAssocID="{D8B61061-0F44-4637-BB9B-9335E374309E}" presName="parentLeftMargin" presStyleLbl="node1" presStyleIdx="0" presStyleCnt="3"/>
      <dgm:spPr/>
    </dgm:pt>
    <dgm:pt modelId="{3DE74EB8-A70D-4BAF-BFEA-9F3649C1C7C1}" type="pres">
      <dgm:prSet presAssocID="{D8B61061-0F44-4637-BB9B-9335E37430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07E667C-1DB2-4B79-AE9D-5272F52D8B0D}" type="pres">
      <dgm:prSet presAssocID="{D8B61061-0F44-4637-BB9B-9335E374309E}" presName="negativeSpace" presStyleCnt="0"/>
      <dgm:spPr/>
    </dgm:pt>
    <dgm:pt modelId="{D2190440-233F-4300-B232-74B3621EAC5D}" type="pres">
      <dgm:prSet presAssocID="{D8B61061-0F44-4637-BB9B-9335E374309E}" presName="childText" presStyleLbl="conFgAcc1" presStyleIdx="0" presStyleCnt="3">
        <dgm:presLayoutVars>
          <dgm:bulletEnabled val="1"/>
        </dgm:presLayoutVars>
      </dgm:prSet>
      <dgm:spPr/>
    </dgm:pt>
    <dgm:pt modelId="{2098AFDC-781C-477D-BE7D-19AA9C774266}" type="pres">
      <dgm:prSet presAssocID="{0A547433-441C-4CF4-ABCB-2A67C98BB931}" presName="spaceBetweenRectangles" presStyleCnt="0"/>
      <dgm:spPr/>
    </dgm:pt>
    <dgm:pt modelId="{8BE27D8E-F546-4922-B9EE-25D887ED365E}" type="pres">
      <dgm:prSet presAssocID="{8CD16D2A-D3EC-40A5-B14A-36643B1BACB2}" presName="parentLin" presStyleCnt="0"/>
      <dgm:spPr/>
    </dgm:pt>
    <dgm:pt modelId="{08DA7638-D113-4DE4-B677-428C808DBC91}" type="pres">
      <dgm:prSet presAssocID="{8CD16D2A-D3EC-40A5-B14A-36643B1BACB2}" presName="parentLeftMargin" presStyleLbl="node1" presStyleIdx="0" presStyleCnt="3"/>
      <dgm:spPr/>
    </dgm:pt>
    <dgm:pt modelId="{9AA2DE77-C19B-43AD-B7F3-89F05ADA5188}" type="pres">
      <dgm:prSet presAssocID="{8CD16D2A-D3EC-40A5-B14A-36643B1BAC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464FBE-C4CB-4BC2-B330-8499B18A45D6}" type="pres">
      <dgm:prSet presAssocID="{8CD16D2A-D3EC-40A5-B14A-36643B1BACB2}" presName="negativeSpace" presStyleCnt="0"/>
      <dgm:spPr/>
    </dgm:pt>
    <dgm:pt modelId="{B8A8AE7E-D78D-4050-8703-7F48340FD5A9}" type="pres">
      <dgm:prSet presAssocID="{8CD16D2A-D3EC-40A5-B14A-36643B1BACB2}" presName="childText" presStyleLbl="conFgAcc1" presStyleIdx="1" presStyleCnt="3">
        <dgm:presLayoutVars>
          <dgm:bulletEnabled val="1"/>
        </dgm:presLayoutVars>
      </dgm:prSet>
      <dgm:spPr/>
    </dgm:pt>
    <dgm:pt modelId="{9E75E7B1-4461-4B2C-83D4-6F48E44C7A70}" type="pres">
      <dgm:prSet presAssocID="{8E2C0029-56AA-4E69-9488-AD866DB31909}" presName="spaceBetweenRectangles" presStyleCnt="0"/>
      <dgm:spPr/>
    </dgm:pt>
    <dgm:pt modelId="{410A21FF-EB97-48DB-B7A0-54F5A761F860}" type="pres">
      <dgm:prSet presAssocID="{522A373A-6259-45B8-B575-F066CA7B7F22}" presName="parentLin" presStyleCnt="0"/>
      <dgm:spPr/>
    </dgm:pt>
    <dgm:pt modelId="{D738E2C9-440D-47B5-A9A9-6494572E41AA}" type="pres">
      <dgm:prSet presAssocID="{522A373A-6259-45B8-B575-F066CA7B7F22}" presName="parentLeftMargin" presStyleLbl="node1" presStyleIdx="1" presStyleCnt="3"/>
      <dgm:spPr/>
    </dgm:pt>
    <dgm:pt modelId="{CDF89AEE-6539-4EEB-8D9D-6858EAAFE059}" type="pres">
      <dgm:prSet presAssocID="{522A373A-6259-45B8-B575-F066CA7B7F2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6B9AFA5-A4A5-4EC7-B181-1A4FF6952A1E}" type="pres">
      <dgm:prSet presAssocID="{522A373A-6259-45B8-B575-F066CA7B7F22}" presName="negativeSpace" presStyleCnt="0"/>
      <dgm:spPr/>
    </dgm:pt>
    <dgm:pt modelId="{6E7820A4-D35A-4C46-A282-8EFD3649A793}" type="pres">
      <dgm:prSet presAssocID="{522A373A-6259-45B8-B575-F066CA7B7F2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246ED10-C1D9-470B-BC70-A30DDB6FEEBD}" srcId="{64437957-7723-45C2-BD8B-78D5BA974982}" destId="{522A373A-6259-45B8-B575-F066CA7B7F22}" srcOrd="2" destOrd="0" parTransId="{BC0D3C43-2706-46C5-B0D9-2084D48E3B8B}" sibTransId="{B74CAA2C-7319-4C62-AC3F-11C654146305}"/>
    <dgm:cxn modelId="{E6E8A21E-2ACF-4879-B7C7-7E5C37F1DD5C}" srcId="{8CD16D2A-D3EC-40A5-B14A-36643B1BACB2}" destId="{5B9164C5-7FBA-4AFB-AB08-B430D8AEDF65}" srcOrd="0" destOrd="0" parTransId="{8AC484BD-F8BC-4F96-A44B-A7A7DB48620F}" sibTransId="{B92FEE82-C779-4557-BF69-90118DA59C27}"/>
    <dgm:cxn modelId="{2B2CC522-F297-4C73-AC37-FE20163D0361}" srcId="{D8B61061-0F44-4637-BB9B-9335E374309E}" destId="{3D1080B3-7FA8-47A9-97EA-0A180A25BD65}" srcOrd="0" destOrd="0" parTransId="{24B4B1E0-983E-4CAB-BB68-533BDB996B91}" sibTransId="{83DA2E68-1328-4793-AAC6-5B75FDF55DC0}"/>
    <dgm:cxn modelId="{F6BC1329-B45A-4237-AA52-775061364054}" type="presOf" srcId="{D8B61061-0F44-4637-BB9B-9335E374309E}" destId="{8912679D-59A6-4D87-879A-632990DD3F6B}" srcOrd="0" destOrd="0" presId="urn:microsoft.com/office/officeart/2005/8/layout/list1"/>
    <dgm:cxn modelId="{DF41955D-B5A9-4E1B-BA19-834830694404}" type="presOf" srcId="{8CD16D2A-D3EC-40A5-B14A-36643B1BACB2}" destId="{08DA7638-D113-4DE4-B677-428C808DBC91}" srcOrd="0" destOrd="0" presId="urn:microsoft.com/office/officeart/2005/8/layout/list1"/>
    <dgm:cxn modelId="{ECDDD642-6CFF-46B0-8424-BF0A9D7EF5B1}" srcId="{522A373A-6259-45B8-B575-F066CA7B7F22}" destId="{D2E2EBD0-DD45-45D6-A4A2-ECFA72BE32EF}" srcOrd="0" destOrd="0" parTransId="{AE9BF837-705D-4DD8-969D-855B9B5F8811}" sibTransId="{8C3888AE-15C4-4486-B089-A4F436445C80}"/>
    <dgm:cxn modelId="{CF2CD742-C754-48F8-A558-425AFA47535C}" type="presOf" srcId="{522A373A-6259-45B8-B575-F066CA7B7F22}" destId="{D738E2C9-440D-47B5-A9A9-6494572E41AA}" srcOrd="0" destOrd="0" presId="urn:microsoft.com/office/officeart/2005/8/layout/list1"/>
    <dgm:cxn modelId="{62FEFB59-F2EB-4D77-A293-A4D09879BBB9}" srcId="{64437957-7723-45C2-BD8B-78D5BA974982}" destId="{8CD16D2A-D3EC-40A5-B14A-36643B1BACB2}" srcOrd="1" destOrd="0" parTransId="{D322E5A0-3D8A-465B-B72A-822A4ABFCE34}" sibTransId="{8E2C0029-56AA-4E69-9488-AD866DB31909}"/>
    <dgm:cxn modelId="{A3BF427C-9417-4274-B522-A87531402735}" type="presOf" srcId="{64437957-7723-45C2-BD8B-78D5BA974982}" destId="{739FAD39-A66B-4D31-AC73-4BE63117D078}" srcOrd="0" destOrd="0" presId="urn:microsoft.com/office/officeart/2005/8/layout/list1"/>
    <dgm:cxn modelId="{0601D984-060E-409C-AD23-2E4AA3FF9C85}" type="presOf" srcId="{8CD16D2A-D3EC-40A5-B14A-36643B1BACB2}" destId="{9AA2DE77-C19B-43AD-B7F3-89F05ADA5188}" srcOrd="1" destOrd="0" presId="urn:microsoft.com/office/officeart/2005/8/layout/list1"/>
    <dgm:cxn modelId="{BF5D4393-664A-4D7F-BDA4-E98F22A7F1A8}" type="presOf" srcId="{D8B61061-0F44-4637-BB9B-9335E374309E}" destId="{3DE74EB8-A70D-4BAF-BFEA-9F3649C1C7C1}" srcOrd="1" destOrd="0" presId="urn:microsoft.com/office/officeart/2005/8/layout/list1"/>
    <dgm:cxn modelId="{7EA40EAF-A686-440E-B775-8AD468CED5AA}" srcId="{64437957-7723-45C2-BD8B-78D5BA974982}" destId="{D8B61061-0F44-4637-BB9B-9335E374309E}" srcOrd="0" destOrd="0" parTransId="{95B0A651-2FC4-4960-848F-99F6A4C0A270}" sibTransId="{0A547433-441C-4CF4-ABCB-2A67C98BB931}"/>
    <dgm:cxn modelId="{002BF9BF-2352-4913-8207-E0002D9FEDD6}" type="presOf" srcId="{5B9164C5-7FBA-4AFB-AB08-B430D8AEDF65}" destId="{B8A8AE7E-D78D-4050-8703-7F48340FD5A9}" srcOrd="0" destOrd="0" presId="urn:microsoft.com/office/officeart/2005/8/layout/list1"/>
    <dgm:cxn modelId="{06667CC4-C0FC-4C8A-9E1B-C630625FE13A}" type="presOf" srcId="{3D1080B3-7FA8-47A9-97EA-0A180A25BD65}" destId="{D2190440-233F-4300-B232-74B3621EAC5D}" srcOrd="0" destOrd="0" presId="urn:microsoft.com/office/officeart/2005/8/layout/list1"/>
    <dgm:cxn modelId="{B35FF1C7-CE7A-4C98-AA9A-7F3D7FAA8B0C}" type="presOf" srcId="{522A373A-6259-45B8-B575-F066CA7B7F22}" destId="{CDF89AEE-6539-4EEB-8D9D-6858EAAFE059}" srcOrd="1" destOrd="0" presId="urn:microsoft.com/office/officeart/2005/8/layout/list1"/>
    <dgm:cxn modelId="{FF904DCB-B726-42E9-95ED-97515BFA41F2}" type="presOf" srcId="{D2E2EBD0-DD45-45D6-A4A2-ECFA72BE32EF}" destId="{6E7820A4-D35A-4C46-A282-8EFD3649A793}" srcOrd="0" destOrd="0" presId="urn:microsoft.com/office/officeart/2005/8/layout/list1"/>
    <dgm:cxn modelId="{4C0D94E6-912D-469F-B796-393C148B6172}" type="presParOf" srcId="{739FAD39-A66B-4D31-AC73-4BE63117D078}" destId="{62DD243C-CFE8-4292-AEB5-EF8D362FC0D4}" srcOrd="0" destOrd="0" presId="urn:microsoft.com/office/officeart/2005/8/layout/list1"/>
    <dgm:cxn modelId="{AE370DD3-F147-4242-90CF-D29AB80A103C}" type="presParOf" srcId="{62DD243C-CFE8-4292-AEB5-EF8D362FC0D4}" destId="{8912679D-59A6-4D87-879A-632990DD3F6B}" srcOrd="0" destOrd="0" presId="urn:microsoft.com/office/officeart/2005/8/layout/list1"/>
    <dgm:cxn modelId="{D121C53A-B4FF-43AF-9E8C-560330BACFA3}" type="presParOf" srcId="{62DD243C-CFE8-4292-AEB5-EF8D362FC0D4}" destId="{3DE74EB8-A70D-4BAF-BFEA-9F3649C1C7C1}" srcOrd="1" destOrd="0" presId="urn:microsoft.com/office/officeart/2005/8/layout/list1"/>
    <dgm:cxn modelId="{08CF0465-A676-4E1D-B461-D516035D9823}" type="presParOf" srcId="{739FAD39-A66B-4D31-AC73-4BE63117D078}" destId="{007E667C-1DB2-4B79-AE9D-5272F52D8B0D}" srcOrd="1" destOrd="0" presId="urn:microsoft.com/office/officeart/2005/8/layout/list1"/>
    <dgm:cxn modelId="{C186FBA0-82A7-4893-8B8C-F2D2A3EEEF91}" type="presParOf" srcId="{739FAD39-A66B-4D31-AC73-4BE63117D078}" destId="{D2190440-233F-4300-B232-74B3621EAC5D}" srcOrd="2" destOrd="0" presId="urn:microsoft.com/office/officeart/2005/8/layout/list1"/>
    <dgm:cxn modelId="{1A42CA37-5271-444B-88FC-BE5460EED542}" type="presParOf" srcId="{739FAD39-A66B-4D31-AC73-4BE63117D078}" destId="{2098AFDC-781C-477D-BE7D-19AA9C774266}" srcOrd="3" destOrd="0" presId="urn:microsoft.com/office/officeart/2005/8/layout/list1"/>
    <dgm:cxn modelId="{24FD4884-3F13-46DC-A737-8C08CF1D17C9}" type="presParOf" srcId="{739FAD39-A66B-4D31-AC73-4BE63117D078}" destId="{8BE27D8E-F546-4922-B9EE-25D887ED365E}" srcOrd="4" destOrd="0" presId="urn:microsoft.com/office/officeart/2005/8/layout/list1"/>
    <dgm:cxn modelId="{6AA1AED1-AF06-4444-B1BF-3F2DF0A0DF51}" type="presParOf" srcId="{8BE27D8E-F546-4922-B9EE-25D887ED365E}" destId="{08DA7638-D113-4DE4-B677-428C808DBC91}" srcOrd="0" destOrd="0" presId="urn:microsoft.com/office/officeart/2005/8/layout/list1"/>
    <dgm:cxn modelId="{EED2D14D-7674-41BF-B981-C8700B40A106}" type="presParOf" srcId="{8BE27D8E-F546-4922-B9EE-25D887ED365E}" destId="{9AA2DE77-C19B-43AD-B7F3-89F05ADA5188}" srcOrd="1" destOrd="0" presId="urn:microsoft.com/office/officeart/2005/8/layout/list1"/>
    <dgm:cxn modelId="{77342EEB-BEE8-4ED8-9CAF-3F9B3F6225DE}" type="presParOf" srcId="{739FAD39-A66B-4D31-AC73-4BE63117D078}" destId="{65464FBE-C4CB-4BC2-B330-8499B18A45D6}" srcOrd="5" destOrd="0" presId="urn:microsoft.com/office/officeart/2005/8/layout/list1"/>
    <dgm:cxn modelId="{79229692-E304-4C33-8365-8CB9D7551546}" type="presParOf" srcId="{739FAD39-A66B-4D31-AC73-4BE63117D078}" destId="{B8A8AE7E-D78D-4050-8703-7F48340FD5A9}" srcOrd="6" destOrd="0" presId="urn:microsoft.com/office/officeart/2005/8/layout/list1"/>
    <dgm:cxn modelId="{56B65FBD-AA1D-4582-A748-17F628FEC1F0}" type="presParOf" srcId="{739FAD39-A66B-4D31-AC73-4BE63117D078}" destId="{9E75E7B1-4461-4B2C-83D4-6F48E44C7A70}" srcOrd="7" destOrd="0" presId="urn:microsoft.com/office/officeart/2005/8/layout/list1"/>
    <dgm:cxn modelId="{5CB1BC3C-3C4F-4746-9A67-022B0C363379}" type="presParOf" srcId="{739FAD39-A66B-4D31-AC73-4BE63117D078}" destId="{410A21FF-EB97-48DB-B7A0-54F5A761F860}" srcOrd="8" destOrd="0" presId="urn:microsoft.com/office/officeart/2005/8/layout/list1"/>
    <dgm:cxn modelId="{4020D3B3-2F30-4C7A-984D-96CC10D76707}" type="presParOf" srcId="{410A21FF-EB97-48DB-B7A0-54F5A761F860}" destId="{D738E2C9-440D-47B5-A9A9-6494572E41AA}" srcOrd="0" destOrd="0" presId="urn:microsoft.com/office/officeart/2005/8/layout/list1"/>
    <dgm:cxn modelId="{CB988A2C-17D5-43A5-B878-B488A6559505}" type="presParOf" srcId="{410A21FF-EB97-48DB-B7A0-54F5A761F860}" destId="{CDF89AEE-6539-4EEB-8D9D-6858EAAFE059}" srcOrd="1" destOrd="0" presId="urn:microsoft.com/office/officeart/2005/8/layout/list1"/>
    <dgm:cxn modelId="{5434A040-1F57-4059-B8D0-42CA721A7CF0}" type="presParOf" srcId="{739FAD39-A66B-4D31-AC73-4BE63117D078}" destId="{36B9AFA5-A4A5-4EC7-B181-1A4FF6952A1E}" srcOrd="9" destOrd="0" presId="urn:microsoft.com/office/officeart/2005/8/layout/list1"/>
    <dgm:cxn modelId="{DAF4387F-C01A-44F6-950B-F3AD21B0A36E}" type="presParOf" srcId="{739FAD39-A66B-4D31-AC73-4BE63117D078}" destId="{6E7820A4-D35A-4C46-A282-8EFD3649A79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8CC03B-55F6-4345-B929-FD6ECB5CFB4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113B1A-C11D-4925-999A-4F8393DD844C}">
      <dgm:prSet custT="1"/>
      <dgm:spPr/>
      <dgm:t>
        <a:bodyPr/>
        <a:lstStyle/>
        <a:p>
          <a:r>
            <a:rPr lang="en-IN" sz="2200" b="1" dirty="0"/>
            <a:t>HARDWARE</a:t>
          </a:r>
        </a:p>
      </dgm:t>
    </dgm:pt>
    <dgm:pt modelId="{862E06A3-383E-402B-822A-02B62945C405}" type="parTrans" cxnId="{7E36EE85-357F-43AF-A88E-E7DEC7571683}">
      <dgm:prSet/>
      <dgm:spPr/>
      <dgm:t>
        <a:bodyPr/>
        <a:lstStyle/>
        <a:p>
          <a:endParaRPr lang="en-IN"/>
        </a:p>
      </dgm:t>
    </dgm:pt>
    <dgm:pt modelId="{B33FBF61-C038-4E1C-838C-5E32BC115D6F}" type="sibTrans" cxnId="{7E36EE85-357F-43AF-A88E-E7DEC7571683}">
      <dgm:prSet/>
      <dgm:spPr/>
      <dgm:t>
        <a:bodyPr/>
        <a:lstStyle/>
        <a:p>
          <a:endParaRPr lang="en-IN"/>
        </a:p>
      </dgm:t>
    </dgm:pt>
    <dgm:pt modelId="{6D97333C-54E1-406F-9942-CFF55635FB8A}">
      <dgm:prSet/>
      <dgm:spPr/>
      <dgm:t>
        <a:bodyPr/>
        <a:lstStyle/>
        <a:p>
          <a:r>
            <a:rPr lang="en-IN" dirty="0" err="1"/>
            <a:t>NodeMCU</a:t>
          </a:r>
          <a:r>
            <a:rPr lang="en-IN" dirty="0"/>
            <a:t> ESP 8266</a:t>
          </a:r>
        </a:p>
      </dgm:t>
    </dgm:pt>
    <dgm:pt modelId="{DB07B1FE-5E90-4D7D-9115-F1E364405D6B}" type="parTrans" cxnId="{0D6E0232-9A60-428D-B9A7-1689FC9E9BB9}">
      <dgm:prSet/>
      <dgm:spPr/>
      <dgm:t>
        <a:bodyPr/>
        <a:lstStyle/>
        <a:p>
          <a:endParaRPr lang="en-IN"/>
        </a:p>
      </dgm:t>
    </dgm:pt>
    <dgm:pt modelId="{64E1E424-2DCB-4069-A648-47C94BD31D1E}" type="sibTrans" cxnId="{0D6E0232-9A60-428D-B9A7-1689FC9E9BB9}">
      <dgm:prSet/>
      <dgm:spPr/>
      <dgm:t>
        <a:bodyPr/>
        <a:lstStyle/>
        <a:p>
          <a:endParaRPr lang="en-IN"/>
        </a:p>
      </dgm:t>
    </dgm:pt>
    <dgm:pt modelId="{46BFDCA6-6D1A-402C-BD65-C81271C65A53}">
      <dgm:prSet/>
      <dgm:spPr/>
      <dgm:t>
        <a:bodyPr/>
        <a:lstStyle/>
        <a:p>
          <a:r>
            <a:rPr lang="en-IN" dirty="0"/>
            <a:t>GY –</a:t>
          </a:r>
          <a:r>
            <a:rPr lang="en-IN" dirty="0" err="1"/>
            <a:t>SHT30</a:t>
          </a:r>
          <a:r>
            <a:rPr lang="en-IN" dirty="0"/>
            <a:t>-D Sensor</a:t>
          </a:r>
        </a:p>
      </dgm:t>
    </dgm:pt>
    <dgm:pt modelId="{E78723D0-E34A-4DFE-9AF2-77421CFE15A4}" type="parTrans" cxnId="{684D2688-10C9-499F-9B17-FC2548817C72}">
      <dgm:prSet/>
      <dgm:spPr/>
      <dgm:t>
        <a:bodyPr/>
        <a:lstStyle/>
        <a:p>
          <a:endParaRPr lang="en-IN"/>
        </a:p>
      </dgm:t>
    </dgm:pt>
    <dgm:pt modelId="{85EC4B2E-34F6-4638-9B1A-18A5F9B8AC3E}" type="sibTrans" cxnId="{684D2688-10C9-499F-9B17-FC2548817C72}">
      <dgm:prSet/>
      <dgm:spPr/>
      <dgm:t>
        <a:bodyPr/>
        <a:lstStyle/>
        <a:p>
          <a:endParaRPr lang="en-IN"/>
        </a:p>
      </dgm:t>
    </dgm:pt>
    <dgm:pt modelId="{DC4BCF0A-33D6-4F52-A331-D4C445234515}" type="pres">
      <dgm:prSet presAssocID="{048CC03B-55F6-4345-B929-FD6ECB5CFB4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E3A4E4D-2D0B-4BF7-9DEB-C38CA39E18DE}" type="pres">
      <dgm:prSet presAssocID="{69113B1A-C11D-4925-999A-4F8393DD844C}" presName="root1" presStyleCnt="0"/>
      <dgm:spPr/>
    </dgm:pt>
    <dgm:pt modelId="{0FDF0A89-1563-4636-B9A8-337F0E2D52E6}" type="pres">
      <dgm:prSet presAssocID="{69113B1A-C11D-4925-999A-4F8393DD844C}" presName="LevelOneTextNode" presStyleLbl="node0" presStyleIdx="0" presStyleCnt="1" custScaleX="206072" custScaleY="86135">
        <dgm:presLayoutVars>
          <dgm:chPref val="3"/>
        </dgm:presLayoutVars>
      </dgm:prSet>
      <dgm:spPr/>
    </dgm:pt>
    <dgm:pt modelId="{B775B1D7-4FEC-4C3B-B0AB-51CAA9F69308}" type="pres">
      <dgm:prSet presAssocID="{69113B1A-C11D-4925-999A-4F8393DD844C}" presName="level2hierChild" presStyleCnt="0"/>
      <dgm:spPr/>
    </dgm:pt>
    <dgm:pt modelId="{5B013C60-5A94-4808-8D0A-B03EC5F6C5DC}" type="pres">
      <dgm:prSet presAssocID="{DB07B1FE-5E90-4D7D-9115-F1E364405D6B}" presName="conn2-1" presStyleLbl="parChTrans1D2" presStyleIdx="0" presStyleCnt="2"/>
      <dgm:spPr/>
    </dgm:pt>
    <dgm:pt modelId="{12E08740-8F82-493A-A406-8C9B66104654}" type="pres">
      <dgm:prSet presAssocID="{DB07B1FE-5E90-4D7D-9115-F1E364405D6B}" presName="connTx" presStyleLbl="parChTrans1D2" presStyleIdx="0" presStyleCnt="2"/>
      <dgm:spPr/>
    </dgm:pt>
    <dgm:pt modelId="{8D6F1EC6-65BF-4D40-8923-1EC1C22B1282}" type="pres">
      <dgm:prSet presAssocID="{6D97333C-54E1-406F-9942-CFF55635FB8A}" presName="root2" presStyleCnt="0"/>
      <dgm:spPr/>
    </dgm:pt>
    <dgm:pt modelId="{E7AA7918-A5FC-4E74-9F86-3C854FF34157}" type="pres">
      <dgm:prSet presAssocID="{6D97333C-54E1-406F-9942-CFF55635FB8A}" presName="LevelTwoTextNode" presStyleLbl="node2" presStyleIdx="0" presStyleCnt="2">
        <dgm:presLayoutVars>
          <dgm:chPref val="3"/>
        </dgm:presLayoutVars>
      </dgm:prSet>
      <dgm:spPr/>
    </dgm:pt>
    <dgm:pt modelId="{550AEF4C-0B21-400F-A6FC-A56146809ED7}" type="pres">
      <dgm:prSet presAssocID="{6D97333C-54E1-406F-9942-CFF55635FB8A}" presName="level3hierChild" presStyleCnt="0"/>
      <dgm:spPr/>
    </dgm:pt>
    <dgm:pt modelId="{B2BD2802-A467-41E5-9A98-0809B8E6473A}" type="pres">
      <dgm:prSet presAssocID="{E78723D0-E34A-4DFE-9AF2-77421CFE15A4}" presName="conn2-1" presStyleLbl="parChTrans1D2" presStyleIdx="1" presStyleCnt="2"/>
      <dgm:spPr/>
    </dgm:pt>
    <dgm:pt modelId="{ABAEC612-9538-43BB-8CD3-8AAF27F466D0}" type="pres">
      <dgm:prSet presAssocID="{E78723D0-E34A-4DFE-9AF2-77421CFE15A4}" presName="connTx" presStyleLbl="parChTrans1D2" presStyleIdx="1" presStyleCnt="2"/>
      <dgm:spPr/>
    </dgm:pt>
    <dgm:pt modelId="{72BF2652-F9B9-4C56-BB9B-3BD117AD3527}" type="pres">
      <dgm:prSet presAssocID="{46BFDCA6-6D1A-402C-BD65-C81271C65A53}" presName="root2" presStyleCnt="0"/>
      <dgm:spPr/>
    </dgm:pt>
    <dgm:pt modelId="{B3AF9B5A-F730-453E-B71F-B417CB22ED75}" type="pres">
      <dgm:prSet presAssocID="{46BFDCA6-6D1A-402C-BD65-C81271C65A53}" presName="LevelTwoTextNode" presStyleLbl="node2" presStyleIdx="1" presStyleCnt="2">
        <dgm:presLayoutVars>
          <dgm:chPref val="3"/>
        </dgm:presLayoutVars>
      </dgm:prSet>
      <dgm:spPr/>
    </dgm:pt>
    <dgm:pt modelId="{F90DEF49-8318-4521-AA1F-CC954198FF21}" type="pres">
      <dgm:prSet presAssocID="{46BFDCA6-6D1A-402C-BD65-C81271C65A53}" presName="level3hierChild" presStyleCnt="0"/>
      <dgm:spPr/>
    </dgm:pt>
  </dgm:ptLst>
  <dgm:cxnLst>
    <dgm:cxn modelId="{0D6E0232-9A60-428D-B9A7-1689FC9E9BB9}" srcId="{69113B1A-C11D-4925-999A-4F8393DD844C}" destId="{6D97333C-54E1-406F-9942-CFF55635FB8A}" srcOrd="0" destOrd="0" parTransId="{DB07B1FE-5E90-4D7D-9115-F1E364405D6B}" sibTransId="{64E1E424-2DCB-4069-A648-47C94BD31D1E}"/>
    <dgm:cxn modelId="{111C2A38-1B56-4D5C-B48F-663BE6B1DAFA}" type="presOf" srcId="{E78723D0-E34A-4DFE-9AF2-77421CFE15A4}" destId="{B2BD2802-A467-41E5-9A98-0809B8E6473A}" srcOrd="0" destOrd="0" presId="urn:microsoft.com/office/officeart/2005/8/layout/hierarchy2"/>
    <dgm:cxn modelId="{03B96F4A-F725-4A6D-91AD-E22F4FC63E7F}" type="presOf" srcId="{DB07B1FE-5E90-4D7D-9115-F1E364405D6B}" destId="{5B013C60-5A94-4808-8D0A-B03EC5F6C5DC}" srcOrd="0" destOrd="0" presId="urn:microsoft.com/office/officeart/2005/8/layout/hierarchy2"/>
    <dgm:cxn modelId="{7EF9286D-C403-4E50-BC18-7089548811E6}" type="presOf" srcId="{048CC03B-55F6-4345-B929-FD6ECB5CFB4A}" destId="{DC4BCF0A-33D6-4F52-A331-D4C445234515}" srcOrd="0" destOrd="0" presId="urn:microsoft.com/office/officeart/2005/8/layout/hierarchy2"/>
    <dgm:cxn modelId="{0CBB5F7A-BD87-45D0-B6E9-22EB7109D4F3}" type="presOf" srcId="{DB07B1FE-5E90-4D7D-9115-F1E364405D6B}" destId="{12E08740-8F82-493A-A406-8C9B66104654}" srcOrd="1" destOrd="0" presId="urn:microsoft.com/office/officeart/2005/8/layout/hierarchy2"/>
    <dgm:cxn modelId="{7E36EE85-357F-43AF-A88E-E7DEC7571683}" srcId="{048CC03B-55F6-4345-B929-FD6ECB5CFB4A}" destId="{69113B1A-C11D-4925-999A-4F8393DD844C}" srcOrd="0" destOrd="0" parTransId="{862E06A3-383E-402B-822A-02B62945C405}" sibTransId="{B33FBF61-C038-4E1C-838C-5E32BC115D6F}"/>
    <dgm:cxn modelId="{684D2688-10C9-499F-9B17-FC2548817C72}" srcId="{69113B1A-C11D-4925-999A-4F8393DD844C}" destId="{46BFDCA6-6D1A-402C-BD65-C81271C65A53}" srcOrd="1" destOrd="0" parTransId="{E78723D0-E34A-4DFE-9AF2-77421CFE15A4}" sibTransId="{85EC4B2E-34F6-4638-9B1A-18A5F9B8AC3E}"/>
    <dgm:cxn modelId="{67874D98-6912-4D81-93DF-111979973581}" type="presOf" srcId="{69113B1A-C11D-4925-999A-4F8393DD844C}" destId="{0FDF0A89-1563-4636-B9A8-337F0E2D52E6}" srcOrd="0" destOrd="0" presId="urn:microsoft.com/office/officeart/2005/8/layout/hierarchy2"/>
    <dgm:cxn modelId="{B1044B99-BB62-4679-992A-4224AA503292}" type="presOf" srcId="{6D97333C-54E1-406F-9942-CFF55635FB8A}" destId="{E7AA7918-A5FC-4E74-9F86-3C854FF34157}" srcOrd="0" destOrd="0" presId="urn:microsoft.com/office/officeart/2005/8/layout/hierarchy2"/>
    <dgm:cxn modelId="{D62AA8CC-67DF-4F50-BFE4-B946989F902F}" type="presOf" srcId="{46BFDCA6-6D1A-402C-BD65-C81271C65A53}" destId="{B3AF9B5A-F730-453E-B71F-B417CB22ED75}" srcOrd="0" destOrd="0" presId="urn:microsoft.com/office/officeart/2005/8/layout/hierarchy2"/>
    <dgm:cxn modelId="{1F966CFA-F53A-4DDF-8DED-95F832079FE8}" type="presOf" srcId="{E78723D0-E34A-4DFE-9AF2-77421CFE15A4}" destId="{ABAEC612-9538-43BB-8CD3-8AAF27F466D0}" srcOrd="1" destOrd="0" presId="urn:microsoft.com/office/officeart/2005/8/layout/hierarchy2"/>
    <dgm:cxn modelId="{0720B74C-8B54-4293-BFFA-B7FF31D9BD6B}" type="presParOf" srcId="{DC4BCF0A-33D6-4F52-A331-D4C445234515}" destId="{FE3A4E4D-2D0B-4BF7-9DEB-C38CA39E18DE}" srcOrd="0" destOrd="0" presId="urn:microsoft.com/office/officeart/2005/8/layout/hierarchy2"/>
    <dgm:cxn modelId="{D62A674B-05AE-4C03-B0E8-D842535EC3B5}" type="presParOf" srcId="{FE3A4E4D-2D0B-4BF7-9DEB-C38CA39E18DE}" destId="{0FDF0A89-1563-4636-B9A8-337F0E2D52E6}" srcOrd="0" destOrd="0" presId="urn:microsoft.com/office/officeart/2005/8/layout/hierarchy2"/>
    <dgm:cxn modelId="{FFC188D0-4ECE-4589-8A2E-C7B0BDBCAE5F}" type="presParOf" srcId="{FE3A4E4D-2D0B-4BF7-9DEB-C38CA39E18DE}" destId="{B775B1D7-4FEC-4C3B-B0AB-51CAA9F69308}" srcOrd="1" destOrd="0" presId="urn:microsoft.com/office/officeart/2005/8/layout/hierarchy2"/>
    <dgm:cxn modelId="{00C95B68-47D9-46FD-AA20-067D74B4FF18}" type="presParOf" srcId="{B775B1D7-4FEC-4C3B-B0AB-51CAA9F69308}" destId="{5B013C60-5A94-4808-8D0A-B03EC5F6C5DC}" srcOrd="0" destOrd="0" presId="urn:microsoft.com/office/officeart/2005/8/layout/hierarchy2"/>
    <dgm:cxn modelId="{4B4FBEFD-8E20-483C-90E2-3A2133864234}" type="presParOf" srcId="{5B013C60-5A94-4808-8D0A-B03EC5F6C5DC}" destId="{12E08740-8F82-493A-A406-8C9B66104654}" srcOrd="0" destOrd="0" presId="urn:microsoft.com/office/officeart/2005/8/layout/hierarchy2"/>
    <dgm:cxn modelId="{A26D1D1F-D56E-4F18-AF66-F4A4D43F7752}" type="presParOf" srcId="{B775B1D7-4FEC-4C3B-B0AB-51CAA9F69308}" destId="{8D6F1EC6-65BF-4D40-8923-1EC1C22B1282}" srcOrd="1" destOrd="0" presId="urn:microsoft.com/office/officeart/2005/8/layout/hierarchy2"/>
    <dgm:cxn modelId="{15941BB3-A18A-4208-B5C7-DEA6F981D0B6}" type="presParOf" srcId="{8D6F1EC6-65BF-4D40-8923-1EC1C22B1282}" destId="{E7AA7918-A5FC-4E74-9F86-3C854FF34157}" srcOrd="0" destOrd="0" presId="urn:microsoft.com/office/officeart/2005/8/layout/hierarchy2"/>
    <dgm:cxn modelId="{3C9036CA-92C4-4CB1-BA04-E727C8D3D998}" type="presParOf" srcId="{8D6F1EC6-65BF-4D40-8923-1EC1C22B1282}" destId="{550AEF4C-0B21-400F-A6FC-A56146809ED7}" srcOrd="1" destOrd="0" presId="urn:microsoft.com/office/officeart/2005/8/layout/hierarchy2"/>
    <dgm:cxn modelId="{37DB39EB-F065-4448-9D46-7950465C6E59}" type="presParOf" srcId="{B775B1D7-4FEC-4C3B-B0AB-51CAA9F69308}" destId="{B2BD2802-A467-41E5-9A98-0809B8E6473A}" srcOrd="2" destOrd="0" presId="urn:microsoft.com/office/officeart/2005/8/layout/hierarchy2"/>
    <dgm:cxn modelId="{26AF7988-1456-4FD5-9B62-D5BF529B8E14}" type="presParOf" srcId="{B2BD2802-A467-41E5-9A98-0809B8E6473A}" destId="{ABAEC612-9538-43BB-8CD3-8AAF27F466D0}" srcOrd="0" destOrd="0" presId="urn:microsoft.com/office/officeart/2005/8/layout/hierarchy2"/>
    <dgm:cxn modelId="{190EADDD-45BE-437E-B8E5-05DACD4252AA}" type="presParOf" srcId="{B775B1D7-4FEC-4C3B-B0AB-51CAA9F69308}" destId="{72BF2652-F9B9-4C56-BB9B-3BD117AD3527}" srcOrd="3" destOrd="0" presId="urn:microsoft.com/office/officeart/2005/8/layout/hierarchy2"/>
    <dgm:cxn modelId="{8A9165FB-FA8B-4E2B-A3F1-E01A977D10BA}" type="presParOf" srcId="{72BF2652-F9B9-4C56-BB9B-3BD117AD3527}" destId="{B3AF9B5A-F730-453E-B71F-B417CB22ED75}" srcOrd="0" destOrd="0" presId="urn:microsoft.com/office/officeart/2005/8/layout/hierarchy2"/>
    <dgm:cxn modelId="{CDF6BCFE-8E1F-45B3-BAC5-ECB89888053F}" type="presParOf" srcId="{72BF2652-F9B9-4C56-BB9B-3BD117AD3527}" destId="{F90DEF49-8318-4521-AA1F-CC954198FF2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A251F3-96CC-4868-97AD-D201AD065F8E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5A85AE9-746C-41BB-BB2F-1D54C5381CA8}">
      <dgm:prSet phldrT="[Text]" phldr="0" custT="1"/>
      <dgm:spPr/>
      <dgm:t>
        <a:bodyPr/>
        <a:lstStyle/>
        <a:p>
          <a:r>
            <a:rPr lang="en-IN" sz="2200" b="1" dirty="0"/>
            <a:t>Software</a:t>
          </a:r>
        </a:p>
      </dgm:t>
    </dgm:pt>
    <dgm:pt modelId="{BD91E119-96A0-4582-9ADB-F0FE926325EE}" type="parTrans" cxnId="{254118C8-79B0-4050-B067-A4CA632CE4C0}">
      <dgm:prSet/>
      <dgm:spPr/>
      <dgm:t>
        <a:bodyPr/>
        <a:lstStyle/>
        <a:p>
          <a:endParaRPr lang="en-IN"/>
        </a:p>
      </dgm:t>
    </dgm:pt>
    <dgm:pt modelId="{03F972C6-0E03-45DD-8AD9-E8E1ED6CB05E}" type="sibTrans" cxnId="{254118C8-79B0-4050-B067-A4CA632CE4C0}">
      <dgm:prSet/>
      <dgm:spPr/>
      <dgm:t>
        <a:bodyPr/>
        <a:lstStyle/>
        <a:p>
          <a:endParaRPr lang="en-IN"/>
        </a:p>
      </dgm:t>
    </dgm:pt>
    <dgm:pt modelId="{30640A0A-AB12-447C-9751-ECD32ADBB495}">
      <dgm:prSet phldrT="[Text]" phldr="0"/>
      <dgm:spPr/>
      <dgm:t>
        <a:bodyPr/>
        <a:lstStyle/>
        <a:p>
          <a:r>
            <a:rPr lang="en-IN" dirty="0" err="1"/>
            <a:t>Streamlit</a:t>
          </a:r>
          <a:endParaRPr lang="en-IN" dirty="0"/>
        </a:p>
      </dgm:t>
    </dgm:pt>
    <dgm:pt modelId="{C17148F4-6B9E-4E0F-8E20-BF9B3EC90553}" type="parTrans" cxnId="{B4CCD134-E25C-47A9-ADF8-8E07B5986634}">
      <dgm:prSet/>
      <dgm:spPr/>
      <dgm:t>
        <a:bodyPr/>
        <a:lstStyle/>
        <a:p>
          <a:endParaRPr lang="en-IN"/>
        </a:p>
      </dgm:t>
    </dgm:pt>
    <dgm:pt modelId="{16E78AD3-7687-4757-BE9D-A37C9BC5CC73}" type="sibTrans" cxnId="{B4CCD134-E25C-47A9-ADF8-8E07B5986634}">
      <dgm:prSet/>
      <dgm:spPr/>
      <dgm:t>
        <a:bodyPr/>
        <a:lstStyle/>
        <a:p>
          <a:endParaRPr lang="en-IN"/>
        </a:p>
      </dgm:t>
    </dgm:pt>
    <dgm:pt modelId="{D6867F85-83C8-4C68-9329-D5F47EAA81F0}">
      <dgm:prSet phldrT="[Text]" phldr="0"/>
      <dgm:spPr/>
      <dgm:t>
        <a:bodyPr/>
        <a:lstStyle/>
        <a:p>
          <a:r>
            <a:rPr lang="en-IN" dirty="0" err="1"/>
            <a:t>Plotly</a:t>
          </a:r>
          <a:r>
            <a:rPr lang="en-IN" dirty="0"/>
            <a:t> </a:t>
          </a:r>
        </a:p>
      </dgm:t>
    </dgm:pt>
    <dgm:pt modelId="{C52F1355-AE3F-4B94-9C11-6C1C76C40A1C}" type="parTrans" cxnId="{0B5D2945-2EC2-49B0-95C3-9AC4A369CDF4}">
      <dgm:prSet/>
      <dgm:spPr/>
      <dgm:t>
        <a:bodyPr/>
        <a:lstStyle/>
        <a:p>
          <a:endParaRPr lang="en-IN"/>
        </a:p>
      </dgm:t>
    </dgm:pt>
    <dgm:pt modelId="{10A658FA-B7EE-44CC-AED9-E94CBD5E9BED}" type="sibTrans" cxnId="{0B5D2945-2EC2-49B0-95C3-9AC4A369CDF4}">
      <dgm:prSet/>
      <dgm:spPr/>
      <dgm:t>
        <a:bodyPr/>
        <a:lstStyle/>
        <a:p>
          <a:endParaRPr lang="en-IN"/>
        </a:p>
      </dgm:t>
    </dgm:pt>
    <dgm:pt modelId="{CCEA4757-E0C4-4B11-B0C2-3A6D3274E2C1}">
      <dgm:prSet phldrT="[Text]" phldr="0"/>
      <dgm:spPr/>
      <dgm:t>
        <a:bodyPr/>
        <a:lstStyle/>
        <a:p>
          <a:r>
            <a:rPr lang="en-IN" dirty="0"/>
            <a:t>Scikit-learn &amp; </a:t>
          </a:r>
          <a:r>
            <a:rPr lang="en-IN" dirty="0" err="1"/>
            <a:t>Xgboost</a:t>
          </a:r>
          <a:endParaRPr lang="en-IN" dirty="0"/>
        </a:p>
      </dgm:t>
    </dgm:pt>
    <dgm:pt modelId="{44553690-7C38-42CC-A35A-23252806A02C}" type="parTrans" cxnId="{CBE6FDC4-2099-4FBD-AC38-18FDBBE5AB61}">
      <dgm:prSet/>
      <dgm:spPr/>
      <dgm:t>
        <a:bodyPr/>
        <a:lstStyle/>
        <a:p>
          <a:endParaRPr lang="en-IN"/>
        </a:p>
      </dgm:t>
    </dgm:pt>
    <dgm:pt modelId="{6D7A5AA3-DF86-4A4A-BD79-D919AA74459A}" type="sibTrans" cxnId="{CBE6FDC4-2099-4FBD-AC38-18FDBBE5AB61}">
      <dgm:prSet/>
      <dgm:spPr/>
      <dgm:t>
        <a:bodyPr/>
        <a:lstStyle/>
        <a:p>
          <a:endParaRPr lang="en-IN"/>
        </a:p>
      </dgm:t>
    </dgm:pt>
    <dgm:pt modelId="{56F007E0-7DF6-4661-9999-ACB728A5FC61}">
      <dgm:prSet phldrT="[Text]" phldr="0"/>
      <dgm:spPr/>
      <dgm:t>
        <a:bodyPr/>
        <a:lstStyle/>
        <a:p>
          <a:r>
            <a:rPr lang="en-IN" dirty="0" err="1"/>
            <a:t>Earthacess</a:t>
          </a:r>
          <a:r>
            <a:rPr lang="en-IN" dirty="0"/>
            <a:t> &amp; </a:t>
          </a:r>
          <a:r>
            <a:rPr lang="en-IN" dirty="0" err="1"/>
            <a:t>Xarray</a:t>
          </a:r>
          <a:endParaRPr lang="en-IN" dirty="0"/>
        </a:p>
      </dgm:t>
    </dgm:pt>
    <dgm:pt modelId="{2E6BE609-4F27-44A3-8AE1-0E7CFA09FCD9}" type="parTrans" cxnId="{37F5C77E-9841-4727-83C8-9BF55A7F7BE7}">
      <dgm:prSet/>
      <dgm:spPr/>
      <dgm:t>
        <a:bodyPr/>
        <a:lstStyle/>
        <a:p>
          <a:endParaRPr lang="en-IN"/>
        </a:p>
      </dgm:t>
    </dgm:pt>
    <dgm:pt modelId="{498ED584-9677-458A-B64C-3495BC4C7CCC}" type="sibTrans" cxnId="{37F5C77E-9841-4727-83C8-9BF55A7F7BE7}">
      <dgm:prSet/>
      <dgm:spPr/>
      <dgm:t>
        <a:bodyPr/>
        <a:lstStyle/>
        <a:p>
          <a:endParaRPr lang="en-IN"/>
        </a:p>
      </dgm:t>
    </dgm:pt>
    <dgm:pt modelId="{8FF21603-44CC-4873-A0A1-827920E2611C}">
      <dgm:prSet phldrT="[Text]" phldr="0"/>
      <dgm:spPr/>
      <dgm:t>
        <a:bodyPr/>
        <a:lstStyle/>
        <a:p>
          <a:r>
            <a:rPr lang="en-IN" dirty="0" err="1"/>
            <a:t>Joblib</a:t>
          </a:r>
          <a:r>
            <a:rPr lang="en-IN" dirty="0"/>
            <a:t> &amp; Request</a:t>
          </a:r>
        </a:p>
      </dgm:t>
    </dgm:pt>
    <dgm:pt modelId="{2BE4935D-5A65-4584-82E6-CEF6275D86C0}" type="parTrans" cxnId="{E7A5387C-C530-4ED0-A8C3-1ACD7353496E}">
      <dgm:prSet/>
      <dgm:spPr/>
      <dgm:t>
        <a:bodyPr/>
        <a:lstStyle/>
        <a:p>
          <a:endParaRPr lang="en-IN"/>
        </a:p>
      </dgm:t>
    </dgm:pt>
    <dgm:pt modelId="{A7841CAD-44B7-40AD-8A87-A1358432A652}" type="sibTrans" cxnId="{E7A5387C-C530-4ED0-A8C3-1ACD7353496E}">
      <dgm:prSet/>
      <dgm:spPr/>
      <dgm:t>
        <a:bodyPr/>
        <a:lstStyle/>
        <a:p>
          <a:endParaRPr lang="en-IN"/>
        </a:p>
      </dgm:t>
    </dgm:pt>
    <dgm:pt modelId="{8EA5E8ED-364F-459E-A4E4-F0F16017D201}">
      <dgm:prSet phldrT="[Text]" phldr="1"/>
      <dgm:spPr/>
      <dgm:t>
        <a:bodyPr/>
        <a:lstStyle/>
        <a:p>
          <a:endParaRPr lang="en-IN"/>
        </a:p>
      </dgm:t>
    </dgm:pt>
    <dgm:pt modelId="{6886AA1D-296A-47DE-9204-9A0FFE106997}" type="parTrans" cxnId="{D8A9972B-38CF-4A03-AC93-91F9AA9CE06B}">
      <dgm:prSet/>
      <dgm:spPr/>
      <dgm:t>
        <a:bodyPr/>
        <a:lstStyle/>
        <a:p>
          <a:endParaRPr lang="en-IN"/>
        </a:p>
      </dgm:t>
    </dgm:pt>
    <dgm:pt modelId="{5D7B9D33-8C15-416D-A8E3-178D732C2EB2}" type="sibTrans" cxnId="{D8A9972B-38CF-4A03-AC93-91F9AA9CE06B}">
      <dgm:prSet/>
      <dgm:spPr/>
      <dgm:t>
        <a:bodyPr/>
        <a:lstStyle/>
        <a:p>
          <a:endParaRPr lang="en-IN"/>
        </a:p>
      </dgm:t>
    </dgm:pt>
    <dgm:pt modelId="{88BDF185-1631-4D78-820F-F710CC30757A}">
      <dgm:prSet phldrT="[Text]" phldr="0"/>
      <dgm:spPr/>
      <dgm:t>
        <a:bodyPr/>
        <a:lstStyle/>
        <a:p>
          <a:r>
            <a:rPr lang="en-IN" dirty="0" err="1"/>
            <a:t>Numpy</a:t>
          </a:r>
          <a:r>
            <a:rPr lang="en-IN" dirty="0"/>
            <a:t> &amp; Pandas</a:t>
          </a:r>
        </a:p>
      </dgm:t>
    </dgm:pt>
    <dgm:pt modelId="{4E807DCB-F6EB-42A7-9FE0-EA00ED778A37}" type="parTrans" cxnId="{DDBC83B2-B0DD-4240-B883-9A2F3787E536}">
      <dgm:prSet/>
      <dgm:spPr/>
      <dgm:t>
        <a:bodyPr/>
        <a:lstStyle/>
        <a:p>
          <a:endParaRPr lang="en-IN"/>
        </a:p>
      </dgm:t>
    </dgm:pt>
    <dgm:pt modelId="{003D796D-9C98-4259-93ED-2D64072477F8}" type="sibTrans" cxnId="{DDBC83B2-B0DD-4240-B883-9A2F3787E536}">
      <dgm:prSet/>
      <dgm:spPr/>
      <dgm:t>
        <a:bodyPr/>
        <a:lstStyle/>
        <a:p>
          <a:endParaRPr lang="en-IN"/>
        </a:p>
      </dgm:t>
    </dgm:pt>
    <dgm:pt modelId="{8F657DAA-11F4-4A2A-83F0-626CDFA4C8FC}" type="pres">
      <dgm:prSet presAssocID="{EDA251F3-96CC-4868-97AD-D201AD065F8E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B22E3B8-DE6E-4B1E-8E41-435A504A5AF2}" type="pres">
      <dgm:prSet presAssocID="{B5A85AE9-746C-41BB-BB2F-1D54C5381CA8}" presName="Parent" presStyleLbl="node0" presStyleIdx="0" presStyleCnt="1" custLinFactNeighborY="-2480">
        <dgm:presLayoutVars>
          <dgm:chMax val="6"/>
          <dgm:chPref val="6"/>
        </dgm:presLayoutVars>
      </dgm:prSet>
      <dgm:spPr/>
    </dgm:pt>
    <dgm:pt modelId="{EE711D45-10D9-4A18-A993-CDAE35F410D6}" type="pres">
      <dgm:prSet presAssocID="{30640A0A-AB12-447C-9751-ECD32ADBB495}" presName="Accent1" presStyleCnt="0"/>
      <dgm:spPr/>
    </dgm:pt>
    <dgm:pt modelId="{4A2AF5EF-D3EE-4DEF-A48A-2FEC6787A975}" type="pres">
      <dgm:prSet presAssocID="{30640A0A-AB12-447C-9751-ECD32ADBB495}" presName="Accent" presStyleLbl="bgShp" presStyleIdx="0" presStyleCnt="6"/>
      <dgm:spPr/>
    </dgm:pt>
    <dgm:pt modelId="{3A91D5CE-C4E6-4BB9-980A-21EC27FFF56C}" type="pres">
      <dgm:prSet presAssocID="{30640A0A-AB12-447C-9751-ECD32ADBB495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ACD9B46-1138-4123-A5B0-145EE94812D0}" type="pres">
      <dgm:prSet presAssocID="{D6867F85-83C8-4C68-9329-D5F47EAA81F0}" presName="Accent2" presStyleCnt="0"/>
      <dgm:spPr/>
    </dgm:pt>
    <dgm:pt modelId="{67FF1105-DE2A-4E8C-B09D-909F2237FF43}" type="pres">
      <dgm:prSet presAssocID="{D6867F85-83C8-4C68-9329-D5F47EAA81F0}" presName="Accent" presStyleLbl="bgShp" presStyleIdx="1" presStyleCnt="6"/>
      <dgm:spPr/>
    </dgm:pt>
    <dgm:pt modelId="{3ED849A6-FB6A-401F-96C4-D33CB540F8D5}" type="pres">
      <dgm:prSet presAssocID="{D6867F85-83C8-4C68-9329-D5F47EAA81F0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3686442-48D6-48FC-931B-42AE176A0359}" type="pres">
      <dgm:prSet presAssocID="{88BDF185-1631-4D78-820F-F710CC30757A}" presName="Accent3" presStyleCnt="0"/>
      <dgm:spPr/>
    </dgm:pt>
    <dgm:pt modelId="{929CF1C6-AE87-45D8-8542-CA3ED0FD2D22}" type="pres">
      <dgm:prSet presAssocID="{88BDF185-1631-4D78-820F-F710CC30757A}" presName="Accent" presStyleLbl="bgShp" presStyleIdx="2" presStyleCnt="6"/>
      <dgm:spPr/>
    </dgm:pt>
    <dgm:pt modelId="{F51CCEF4-FAB5-450C-B7A3-AA8DBD412E47}" type="pres">
      <dgm:prSet presAssocID="{88BDF185-1631-4D78-820F-F710CC30757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1773DE1-4C96-4E24-B90C-F407CCEC5BCF}" type="pres">
      <dgm:prSet presAssocID="{CCEA4757-E0C4-4B11-B0C2-3A6D3274E2C1}" presName="Accent4" presStyleCnt="0"/>
      <dgm:spPr/>
    </dgm:pt>
    <dgm:pt modelId="{3835D7A7-E294-4B79-AE3F-211ADE6C69B7}" type="pres">
      <dgm:prSet presAssocID="{CCEA4757-E0C4-4B11-B0C2-3A6D3274E2C1}" presName="Accent" presStyleLbl="bgShp" presStyleIdx="3" presStyleCnt="6"/>
      <dgm:spPr/>
    </dgm:pt>
    <dgm:pt modelId="{876913BB-70CF-4263-AEFA-B4D08CA72BEE}" type="pres">
      <dgm:prSet presAssocID="{CCEA4757-E0C4-4B11-B0C2-3A6D3274E2C1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02D72C7E-7968-4D44-B688-8A68E7C34A0C}" type="pres">
      <dgm:prSet presAssocID="{56F007E0-7DF6-4661-9999-ACB728A5FC61}" presName="Accent5" presStyleCnt="0"/>
      <dgm:spPr/>
    </dgm:pt>
    <dgm:pt modelId="{E27BA64B-32AA-4FFB-91F6-6B2D6223D50F}" type="pres">
      <dgm:prSet presAssocID="{56F007E0-7DF6-4661-9999-ACB728A5FC61}" presName="Accent" presStyleLbl="bgShp" presStyleIdx="4" presStyleCnt="6"/>
      <dgm:spPr/>
    </dgm:pt>
    <dgm:pt modelId="{DFD097F3-1DF1-4844-B697-3DE68C201946}" type="pres">
      <dgm:prSet presAssocID="{56F007E0-7DF6-4661-9999-ACB728A5FC6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24421A27-1E92-43C3-AF48-9090A24AC3B5}" type="pres">
      <dgm:prSet presAssocID="{8FF21603-44CC-4873-A0A1-827920E2611C}" presName="Accent6" presStyleCnt="0"/>
      <dgm:spPr/>
    </dgm:pt>
    <dgm:pt modelId="{A9753E83-EDC8-4C5B-B3F6-E60F10A1B3D2}" type="pres">
      <dgm:prSet presAssocID="{8FF21603-44CC-4873-A0A1-827920E2611C}" presName="Accent" presStyleLbl="bgShp" presStyleIdx="5" presStyleCnt="6"/>
      <dgm:spPr/>
    </dgm:pt>
    <dgm:pt modelId="{FD52C00C-31FB-4E24-B33F-7B3FD0932048}" type="pres">
      <dgm:prSet presAssocID="{8FF21603-44CC-4873-A0A1-827920E2611C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30DFC01-D073-4A9E-BA82-C944255C203E}" type="presOf" srcId="{B5A85AE9-746C-41BB-BB2F-1D54C5381CA8}" destId="{AB22E3B8-DE6E-4B1E-8E41-435A504A5AF2}" srcOrd="0" destOrd="0" presId="urn:microsoft.com/office/officeart/2011/layout/HexagonRadial"/>
    <dgm:cxn modelId="{F7643D14-9426-4527-BE24-421C36626DC7}" type="presOf" srcId="{56F007E0-7DF6-4661-9999-ACB728A5FC61}" destId="{DFD097F3-1DF1-4844-B697-3DE68C201946}" srcOrd="0" destOrd="0" presId="urn:microsoft.com/office/officeart/2011/layout/HexagonRadial"/>
    <dgm:cxn modelId="{303F2825-3A8E-4EC9-854A-C71071DF070D}" type="presOf" srcId="{8FF21603-44CC-4873-A0A1-827920E2611C}" destId="{FD52C00C-31FB-4E24-B33F-7B3FD0932048}" srcOrd="0" destOrd="0" presId="urn:microsoft.com/office/officeart/2011/layout/HexagonRadial"/>
    <dgm:cxn modelId="{D8A9972B-38CF-4A03-AC93-91F9AA9CE06B}" srcId="{B5A85AE9-746C-41BB-BB2F-1D54C5381CA8}" destId="{8EA5E8ED-364F-459E-A4E4-F0F16017D201}" srcOrd="6" destOrd="0" parTransId="{6886AA1D-296A-47DE-9204-9A0FFE106997}" sibTransId="{5D7B9D33-8C15-416D-A8E3-178D732C2EB2}"/>
    <dgm:cxn modelId="{A17E5A30-3158-4ACC-B94D-F810D87BF9AC}" type="presOf" srcId="{CCEA4757-E0C4-4B11-B0C2-3A6D3274E2C1}" destId="{876913BB-70CF-4263-AEFA-B4D08CA72BEE}" srcOrd="0" destOrd="0" presId="urn:microsoft.com/office/officeart/2011/layout/HexagonRadial"/>
    <dgm:cxn modelId="{B19FCB33-DAC5-460E-8070-8C428C24BF3A}" type="presOf" srcId="{88BDF185-1631-4D78-820F-F710CC30757A}" destId="{F51CCEF4-FAB5-450C-B7A3-AA8DBD412E47}" srcOrd="0" destOrd="0" presId="urn:microsoft.com/office/officeart/2011/layout/HexagonRadial"/>
    <dgm:cxn modelId="{B4CCD134-E25C-47A9-ADF8-8E07B5986634}" srcId="{B5A85AE9-746C-41BB-BB2F-1D54C5381CA8}" destId="{30640A0A-AB12-447C-9751-ECD32ADBB495}" srcOrd="0" destOrd="0" parTransId="{C17148F4-6B9E-4E0F-8E20-BF9B3EC90553}" sibTransId="{16E78AD3-7687-4757-BE9D-A37C9BC5CC73}"/>
    <dgm:cxn modelId="{AA9C8660-8578-4D1B-95C8-8AE4910C1771}" type="presOf" srcId="{D6867F85-83C8-4C68-9329-D5F47EAA81F0}" destId="{3ED849A6-FB6A-401F-96C4-D33CB540F8D5}" srcOrd="0" destOrd="0" presId="urn:microsoft.com/office/officeart/2011/layout/HexagonRadial"/>
    <dgm:cxn modelId="{0B5D2945-2EC2-49B0-95C3-9AC4A369CDF4}" srcId="{B5A85AE9-746C-41BB-BB2F-1D54C5381CA8}" destId="{D6867F85-83C8-4C68-9329-D5F47EAA81F0}" srcOrd="1" destOrd="0" parTransId="{C52F1355-AE3F-4B94-9C11-6C1C76C40A1C}" sibTransId="{10A658FA-B7EE-44CC-AED9-E94CBD5E9BED}"/>
    <dgm:cxn modelId="{E7A5387C-C530-4ED0-A8C3-1ACD7353496E}" srcId="{B5A85AE9-746C-41BB-BB2F-1D54C5381CA8}" destId="{8FF21603-44CC-4873-A0A1-827920E2611C}" srcOrd="5" destOrd="0" parTransId="{2BE4935D-5A65-4584-82E6-CEF6275D86C0}" sibTransId="{A7841CAD-44B7-40AD-8A87-A1358432A652}"/>
    <dgm:cxn modelId="{37F5C77E-9841-4727-83C8-9BF55A7F7BE7}" srcId="{B5A85AE9-746C-41BB-BB2F-1D54C5381CA8}" destId="{56F007E0-7DF6-4661-9999-ACB728A5FC61}" srcOrd="4" destOrd="0" parTransId="{2E6BE609-4F27-44A3-8AE1-0E7CFA09FCD9}" sibTransId="{498ED584-9677-458A-B64C-3495BC4C7CCC}"/>
    <dgm:cxn modelId="{E2116DA6-A08B-4863-AC53-2DBA88828696}" type="presOf" srcId="{30640A0A-AB12-447C-9751-ECD32ADBB495}" destId="{3A91D5CE-C4E6-4BB9-980A-21EC27FFF56C}" srcOrd="0" destOrd="0" presId="urn:microsoft.com/office/officeart/2011/layout/HexagonRadial"/>
    <dgm:cxn modelId="{DDBC83B2-B0DD-4240-B883-9A2F3787E536}" srcId="{B5A85AE9-746C-41BB-BB2F-1D54C5381CA8}" destId="{88BDF185-1631-4D78-820F-F710CC30757A}" srcOrd="2" destOrd="0" parTransId="{4E807DCB-F6EB-42A7-9FE0-EA00ED778A37}" sibTransId="{003D796D-9C98-4259-93ED-2D64072477F8}"/>
    <dgm:cxn modelId="{2D79ECB7-90DB-4EEF-AD5F-0C4566C4CA97}" type="presOf" srcId="{EDA251F3-96CC-4868-97AD-D201AD065F8E}" destId="{8F657DAA-11F4-4A2A-83F0-626CDFA4C8FC}" srcOrd="0" destOrd="0" presId="urn:microsoft.com/office/officeart/2011/layout/HexagonRadial"/>
    <dgm:cxn modelId="{CBE6FDC4-2099-4FBD-AC38-18FDBBE5AB61}" srcId="{B5A85AE9-746C-41BB-BB2F-1D54C5381CA8}" destId="{CCEA4757-E0C4-4B11-B0C2-3A6D3274E2C1}" srcOrd="3" destOrd="0" parTransId="{44553690-7C38-42CC-A35A-23252806A02C}" sibTransId="{6D7A5AA3-DF86-4A4A-BD79-D919AA74459A}"/>
    <dgm:cxn modelId="{254118C8-79B0-4050-B067-A4CA632CE4C0}" srcId="{EDA251F3-96CC-4868-97AD-D201AD065F8E}" destId="{B5A85AE9-746C-41BB-BB2F-1D54C5381CA8}" srcOrd="0" destOrd="0" parTransId="{BD91E119-96A0-4582-9ADB-F0FE926325EE}" sibTransId="{03F972C6-0E03-45DD-8AD9-E8E1ED6CB05E}"/>
    <dgm:cxn modelId="{3048200D-7339-4145-B961-DFD6C47342D4}" type="presParOf" srcId="{8F657DAA-11F4-4A2A-83F0-626CDFA4C8FC}" destId="{AB22E3B8-DE6E-4B1E-8E41-435A504A5AF2}" srcOrd="0" destOrd="0" presId="urn:microsoft.com/office/officeart/2011/layout/HexagonRadial"/>
    <dgm:cxn modelId="{EFB68B20-8FFF-47C1-B2FE-7A1126786658}" type="presParOf" srcId="{8F657DAA-11F4-4A2A-83F0-626CDFA4C8FC}" destId="{EE711D45-10D9-4A18-A993-CDAE35F410D6}" srcOrd="1" destOrd="0" presId="urn:microsoft.com/office/officeart/2011/layout/HexagonRadial"/>
    <dgm:cxn modelId="{F25AD9EA-1CE7-49EA-9F0E-4F7B52902A9A}" type="presParOf" srcId="{EE711D45-10D9-4A18-A993-CDAE35F410D6}" destId="{4A2AF5EF-D3EE-4DEF-A48A-2FEC6787A975}" srcOrd="0" destOrd="0" presId="urn:microsoft.com/office/officeart/2011/layout/HexagonRadial"/>
    <dgm:cxn modelId="{F97767C9-655C-42C8-8AEE-A6AE7C708A78}" type="presParOf" srcId="{8F657DAA-11F4-4A2A-83F0-626CDFA4C8FC}" destId="{3A91D5CE-C4E6-4BB9-980A-21EC27FFF56C}" srcOrd="2" destOrd="0" presId="urn:microsoft.com/office/officeart/2011/layout/HexagonRadial"/>
    <dgm:cxn modelId="{674D0472-0066-42C4-81EC-3EDFF30BA70D}" type="presParOf" srcId="{8F657DAA-11F4-4A2A-83F0-626CDFA4C8FC}" destId="{BACD9B46-1138-4123-A5B0-145EE94812D0}" srcOrd="3" destOrd="0" presId="urn:microsoft.com/office/officeart/2011/layout/HexagonRadial"/>
    <dgm:cxn modelId="{F97E5475-1C10-4D31-AFBF-BA40923E2E01}" type="presParOf" srcId="{BACD9B46-1138-4123-A5B0-145EE94812D0}" destId="{67FF1105-DE2A-4E8C-B09D-909F2237FF43}" srcOrd="0" destOrd="0" presId="urn:microsoft.com/office/officeart/2011/layout/HexagonRadial"/>
    <dgm:cxn modelId="{BD841C0C-A349-45C4-A134-18330413F103}" type="presParOf" srcId="{8F657DAA-11F4-4A2A-83F0-626CDFA4C8FC}" destId="{3ED849A6-FB6A-401F-96C4-D33CB540F8D5}" srcOrd="4" destOrd="0" presId="urn:microsoft.com/office/officeart/2011/layout/HexagonRadial"/>
    <dgm:cxn modelId="{37A6A4E9-EA5E-4BF9-9B94-6A55598FC5C8}" type="presParOf" srcId="{8F657DAA-11F4-4A2A-83F0-626CDFA4C8FC}" destId="{23686442-48D6-48FC-931B-42AE176A0359}" srcOrd="5" destOrd="0" presId="urn:microsoft.com/office/officeart/2011/layout/HexagonRadial"/>
    <dgm:cxn modelId="{2C1D4087-349F-4D4B-8F4A-DB066F3D1FFF}" type="presParOf" srcId="{23686442-48D6-48FC-931B-42AE176A0359}" destId="{929CF1C6-AE87-45D8-8542-CA3ED0FD2D22}" srcOrd="0" destOrd="0" presId="urn:microsoft.com/office/officeart/2011/layout/HexagonRadial"/>
    <dgm:cxn modelId="{817C0244-7687-47A9-8DA7-503857B83A1A}" type="presParOf" srcId="{8F657DAA-11F4-4A2A-83F0-626CDFA4C8FC}" destId="{F51CCEF4-FAB5-450C-B7A3-AA8DBD412E47}" srcOrd="6" destOrd="0" presId="urn:microsoft.com/office/officeart/2011/layout/HexagonRadial"/>
    <dgm:cxn modelId="{F697581B-D180-46BF-817D-7905945A37D7}" type="presParOf" srcId="{8F657DAA-11F4-4A2A-83F0-626CDFA4C8FC}" destId="{91773DE1-4C96-4E24-B90C-F407CCEC5BCF}" srcOrd="7" destOrd="0" presId="urn:microsoft.com/office/officeart/2011/layout/HexagonRadial"/>
    <dgm:cxn modelId="{EDEE45FA-9A8A-4897-9D6A-4746A7BB40D6}" type="presParOf" srcId="{91773DE1-4C96-4E24-B90C-F407CCEC5BCF}" destId="{3835D7A7-E294-4B79-AE3F-211ADE6C69B7}" srcOrd="0" destOrd="0" presId="urn:microsoft.com/office/officeart/2011/layout/HexagonRadial"/>
    <dgm:cxn modelId="{D8F3D636-03C9-4050-A6C8-01E2E896833F}" type="presParOf" srcId="{8F657DAA-11F4-4A2A-83F0-626CDFA4C8FC}" destId="{876913BB-70CF-4263-AEFA-B4D08CA72BEE}" srcOrd="8" destOrd="0" presId="urn:microsoft.com/office/officeart/2011/layout/HexagonRadial"/>
    <dgm:cxn modelId="{DC7A4653-3108-4752-84D6-AF2F018B5C82}" type="presParOf" srcId="{8F657DAA-11F4-4A2A-83F0-626CDFA4C8FC}" destId="{02D72C7E-7968-4D44-B688-8A68E7C34A0C}" srcOrd="9" destOrd="0" presId="urn:microsoft.com/office/officeart/2011/layout/HexagonRadial"/>
    <dgm:cxn modelId="{D8C48E68-7F5A-4CDC-A658-C244FB6A4CD9}" type="presParOf" srcId="{02D72C7E-7968-4D44-B688-8A68E7C34A0C}" destId="{E27BA64B-32AA-4FFB-91F6-6B2D6223D50F}" srcOrd="0" destOrd="0" presId="urn:microsoft.com/office/officeart/2011/layout/HexagonRadial"/>
    <dgm:cxn modelId="{98E3EFB6-5C53-473D-8748-B0975227843C}" type="presParOf" srcId="{8F657DAA-11F4-4A2A-83F0-626CDFA4C8FC}" destId="{DFD097F3-1DF1-4844-B697-3DE68C201946}" srcOrd="10" destOrd="0" presId="urn:microsoft.com/office/officeart/2011/layout/HexagonRadial"/>
    <dgm:cxn modelId="{3EE4DEFA-C5C9-4EAA-9103-9DDDA6B0E97F}" type="presParOf" srcId="{8F657DAA-11F4-4A2A-83F0-626CDFA4C8FC}" destId="{24421A27-1E92-43C3-AF48-9090A24AC3B5}" srcOrd="11" destOrd="0" presId="urn:microsoft.com/office/officeart/2011/layout/HexagonRadial"/>
    <dgm:cxn modelId="{F620C62E-19CF-4702-B7B7-4CD35AA4B5DC}" type="presParOf" srcId="{24421A27-1E92-43C3-AF48-9090A24AC3B5}" destId="{A9753E83-EDC8-4C5B-B3F6-E60F10A1B3D2}" srcOrd="0" destOrd="0" presId="urn:microsoft.com/office/officeart/2011/layout/HexagonRadial"/>
    <dgm:cxn modelId="{DD7CE2C9-2762-434A-AE83-A36895A69E69}" type="presParOf" srcId="{8F657DAA-11F4-4A2A-83F0-626CDFA4C8FC}" destId="{FD52C00C-31FB-4E24-B33F-7B3FD0932048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284F2-C575-45F8-8177-94F50ED2B5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8D57F1F-9C47-4401-9A87-FF510D19CD33}">
      <dgm:prSet/>
      <dgm:spPr/>
      <dgm:t>
        <a:bodyPr/>
        <a:lstStyle/>
        <a:p>
          <a:r>
            <a:rPr lang="en-IN" b="1" dirty="0"/>
            <a:t>Deep Learning for Sequential Extraction</a:t>
          </a:r>
          <a:r>
            <a:rPr lang="en-IN" dirty="0"/>
            <a:t>: Future research must focus on optimizing advanced Deep Learning (DL) architectures, like Long Short-Term Memory (LSTM) networks or Temporal Convolutional Networks (</a:t>
          </a:r>
          <a:r>
            <a:rPr lang="en-IN" dirty="0" err="1"/>
            <a:t>TCNs</a:t>
          </a:r>
          <a:endParaRPr lang="en-US" dirty="0"/>
        </a:p>
      </dgm:t>
    </dgm:pt>
    <dgm:pt modelId="{682ACF4E-DB7A-4233-8E52-DB548307A725}" type="parTrans" cxnId="{1DBC521A-9543-4437-94AE-4166460E953F}">
      <dgm:prSet/>
      <dgm:spPr/>
      <dgm:t>
        <a:bodyPr/>
        <a:lstStyle/>
        <a:p>
          <a:endParaRPr lang="en-US"/>
        </a:p>
      </dgm:t>
    </dgm:pt>
    <dgm:pt modelId="{CF927020-7FC4-4FF8-961E-E3EBB036130A}" type="sibTrans" cxnId="{1DBC521A-9543-4437-94AE-4166460E953F}">
      <dgm:prSet/>
      <dgm:spPr/>
      <dgm:t>
        <a:bodyPr/>
        <a:lstStyle/>
        <a:p>
          <a:endParaRPr lang="en-US"/>
        </a:p>
      </dgm:t>
    </dgm:pt>
    <dgm:pt modelId="{15FE549C-8879-48D7-AA0B-E82BFD4F43AE}">
      <dgm:prSet/>
      <dgm:spPr/>
      <dgm:t>
        <a:bodyPr/>
        <a:lstStyle/>
        <a:p>
          <a:r>
            <a:rPr lang="en-IN" b="1" dirty="0"/>
            <a:t>Hyper-Local Nowcasting</a:t>
          </a:r>
          <a:r>
            <a:rPr lang="en-IN" dirty="0"/>
            <a:t>: Leveraging real-time data from IoT weather sensors deployed across different municipal zones in Kolkata to develop hyper-local, real-time nowcasting (0-3 hours) for rainfall.</a:t>
          </a:r>
          <a:endParaRPr lang="en-US" dirty="0"/>
        </a:p>
      </dgm:t>
    </dgm:pt>
    <dgm:pt modelId="{D3D60B30-B9B1-47B7-824F-3AB41FC89712}" type="parTrans" cxnId="{0F67850B-CFFB-4550-B081-05EBEF34FDE8}">
      <dgm:prSet/>
      <dgm:spPr/>
      <dgm:t>
        <a:bodyPr/>
        <a:lstStyle/>
        <a:p>
          <a:endParaRPr lang="en-US"/>
        </a:p>
      </dgm:t>
    </dgm:pt>
    <dgm:pt modelId="{19BB361F-5307-437D-A1D1-7AE31F50BAC3}" type="sibTrans" cxnId="{0F67850B-CFFB-4550-B081-05EBEF34FDE8}">
      <dgm:prSet/>
      <dgm:spPr/>
      <dgm:t>
        <a:bodyPr/>
        <a:lstStyle/>
        <a:p>
          <a:endParaRPr lang="en-US"/>
        </a:p>
      </dgm:t>
    </dgm:pt>
    <dgm:pt modelId="{B3779487-445B-4C7F-81A0-B64F31EA4A64}">
      <dgm:prSet/>
      <dgm:spPr/>
      <dgm:t>
        <a:bodyPr/>
        <a:lstStyle/>
        <a:p>
          <a:r>
            <a:rPr lang="en-IN" b="1" dirty="0"/>
            <a:t>Extreme Event Extrapolation</a:t>
          </a:r>
          <a:r>
            <a:rPr lang="en-IN" dirty="0"/>
            <a:t>: Future work will focus on integrating Extreme Value Theory (EVT) to ensure the model remains robust during severe climatic anomalies.</a:t>
          </a:r>
          <a:endParaRPr lang="en-US" dirty="0"/>
        </a:p>
      </dgm:t>
    </dgm:pt>
    <dgm:pt modelId="{4E67DB7A-2501-4AE5-97AC-B31C00FD58D0}" type="parTrans" cxnId="{1A3B5EBB-AF2E-4E0F-BD66-1A05D14A92E6}">
      <dgm:prSet/>
      <dgm:spPr/>
      <dgm:t>
        <a:bodyPr/>
        <a:lstStyle/>
        <a:p>
          <a:endParaRPr lang="en-US"/>
        </a:p>
      </dgm:t>
    </dgm:pt>
    <dgm:pt modelId="{7144C07A-B98F-4882-838E-64C973C15351}" type="sibTrans" cxnId="{1A3B5EBB-AF2E-4E0F-BD66-1A05D14A92E6}">
      <dgm:prSet/>
      <dgm:spPr/>
      <dgm:t>
        <a:bodyPr/>
        <a:lstStyle/>
        <a:p>
          <a:endParaRPr lang="en-US"/>
        </a:p>
      </dgm:t>
    </dgm:pt>
    <dgm:pt modelId="{365D3B71-7336-48CC-8092-0D95A5C64D8A}" type="pres">
      <dgm:prSet presAssocID="{40F284F2-C575-45F8-8177-94F50ED2B5D7}" presName="root" presStyleCnt="0">
        <dgm:presLayoutVars>
          <dgm:dir/>
          <dgm:resizeHandles val="exact"/>
        </dgm:presLayoutVars>
      </dgm:prSet>
      <dgm:spPr/>
    </dgm:pt>
    <dgm:pt modelId="{CC2A169F-F338-45E1-99F7-8C157B09ECCC}" type="pres">
      <dgm:prSet presAssocID="{68D57F1F-9C47-4401-9A87-FF510D19CD33}" presName="compNode" presStyleCnt="0"/>
      <dgm:spPr/>
    </dgm:pt>
    <dgm:pt modelId="{DE3A0292-FA67-452A-BD5A-31F0DC5CBC74}" type="pres">
      <dgm:prSet presAssocID="{68D57F1F-9C47-4401-9A87-FF510D19CD33}" presName="bgRect" presStyleLbl="bgShp" presStyleIdx="0" presStyleCnt="3" custLinFactNeighborY="-351"/>
      <dgm:spPr/>
    </dgm:pt>
    <dgm:pt modelId="{AE374A4A-2914-4460-B525-AD5B1BDE00EE}" type="pres">
      <dgm:prSet presAssocID="{68D57F1F-9C47-4401-9A87-FF510D19CD3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59B5E1-5B7C-4372-8C46-D9FA2F96A4E2}" type="pres">
      <dgm:prSet presAssocID="{68D57F1F-9C47-4401-9A87-FF510D19CD33}" presName="spaceRect" presStyleCnt="0"/>
      <dgm:spPr/>
    </dgm:pt>
    <dgm:pt modelId="{D7E78B51-B314-440A-B892-D957952602D6}" type="pres">
      <dgm:prSet presAssocID="{68D57F1F-9C47-4401-9A87-FF510D19CD33}" presName="parTx" presStyleLbl="revTx" presStyleIdx="0" presStyleCnt="3">
        <dgm:presLayoutVars>
          <dgm:chMax val="0"/>
          <dgm:chPref val="0"/>
        </dgm:presLayoutVars>
      </dgm:prSet>
      <dgm:spPr/>
    </dgm:pt>
    <dgm:pt modelId="{FF9A0A14-7AE6-4BFC-9289-64C9B6ED194F}" type="pres">
      <dgm:prSet presAssocID="{CF927020-7FC4-4FF8-961E-E3EBB036130A}" presName="sibTrans" presStyleCnt="0"/>
      <dgm:spPr/>
    </dgm:pt>
    <dgm:pt modelId="{189B8F66-9BF2-49B9-BB67-9776765DFFA7}" type="pres">
      <dgm:prSet presAssocID="{15FE549C-8879-48D7-AA0B-E82BFD4F43AE}" presName="compNode" presStyleCnt="0"/>
      <dgm:spPr/>
    </dgm:pt>
    <dgm:pt modelId="{F69C134A-2811-4A00-9AAE-0572CD36E33D}" type="pres">
      <dgm:prSet presAssocID="{15FE549C-8879-48D7-AA0B-E82BFD4F43AE}" presName="bgRect" presStyleLbl="bgShp" presStyleIdx="1" presStyleCnt="3"/>
      <dgm:spPr/>
    </dgm:pt>
    <dgm:pt modelId="{74C318B6-2A0D-4EFB-A688-C8F04CF5A905}" type="pres">
      <dgm:prSet presAssocID="{15FE549C-8879-48D7-AA0B-E82BFD4F43A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4A91597-4B9A-4008-8A78-6C79BEDC61FC}" type="pres">
      <dgm:prSet presAssocID="{15FE549C-8879-48D7-AA0B-E82BFD4F43AE}" presName="spaceRect" presStyleCnt="0"/>
      <dgm:spPr/>
    </dgm:pt>
    <dgm:pt modelId="{52D47A95-BA73-496A-B2B5-E92448A539FB}" type="pres">
      <dgm:prSet presAssocID="{15FE549C-8879-48D7-AA0B-E82BFD4F43AE}" presName="parTx" presStyleLbl="revTx" presStyleIdx="1" presStyleCnt="3">
        <dgm:presLayoutVars>
          <dgm:chMax val="0"/>
          <dgm:chPref val="0"/>
        </dgm:presLayoutVars>
      </dgm:prSet>
      <dgm:spPr/>
    </dgm:pt>
    <dgm:pt modelId="{9B89AC6F-D9BE-4851-85A6-0A0852CB03A5}" type="pres">
      <dgm:prSet presAssocID="{19BB361F-5307-437D-A1D1-7AE31F50BAC3}" presName="sibTrans" presStyleCnt="0"/>
      <dgm:spPr/>
    </dgm:pt>
    <dgm:pt modelId="{621CACEE-34E0-43AF-8D40-7542C1B1CEEB}" type="pres">
      <dgm:prSet presAssocID="{B3779487-445B-4C7F-81A0-B64F31EA4A64}" presName="compNode" presStyleCnt="0"/>
      <dgm:spPr/>
    </dgm:pt>
    <dgm:pt modelId="{2C686B4E-EE15-42A2-B6CD-0C991AFD0FF2}" type="pres">
      <dgm:prSet presAssocID="{B3779487-445B-4C7F-81A0-B64F31EA4A64}" presName="bgRect" presStyleLbl="bgShp" presStyleIdx="2" presStyleCnt="3"/>
      <dgm:spPr/>
    </dgm:pt>
    <dgm:pt modelId="{CC63D19A-E4BF-410F-A186-BC9EC5368512}" type="pres">
      <dgm:prSet presAssocID="{B3779487-445B-4C7F-81A0-B64F31EA4A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E2EEAF3-3437-405A-B66C-5C091D327064}" type="pres">
      <dgm:prSet presAssocID="{B3779487-445B-4C7F-81A0-B64F31EA4A64}" presName="spaceRect" presStyleCnt="0"/>
      <dgm:spPr/>
    </dgm:pt>
    <dgm:pt modelId="{8C1FA572-8FCE-4871-B45C-790FC22EC0F0}" type="pres">
      <dgm:prSet presAssocID="{B3779487-445B-4C7F-81A0-B64F31EA4A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67850B-CFFB-4550-B081-05EBEF34FDE8}" srcId="{40F284F2-C575-45F8-8177-94F50ED2B5D7}" destId="{15FE549C-8879-48D7-AA0B-E82BFD4F43AE}" srcOrd="1" destOrd="0" parTransId="{D3D60B30-B9B1-47B7-824F-3AB41FC89712}" sibTransId="{19BB361F-5307-437D-A1D1-7AE31F50BAC3}"/>
    <dgm:cxn modelId="{1DBC521A-9543-4437-94AE-4166460E953F}" srcId="{40F284F2-C575-45F8-8177-94F50ED2B5D7}" destId="{68D57F1F-9C47-4401-9A87-FF510D19CD33}" srcOrd="0" destOrd="0" parTransId="{682ACF4E-DB7A-4233-8E52-DB548307A725}" sibTransId="{CF927020-7FC4-4FF8-961E-E3EBB036130A}"/>
    <dgm:cxn modelId="{D2E9EF21-7F3E-47C1-B452-DD91C61839B1}" type="presOf" srcId="{B3779487-445B-4C7F-81A0-B64F31EA4A64}" destId="{8C1FA572-8FCE-4871-B45C-790FC22EC0F0}" srcOrd="0" destOrd="0" presId="urn:microsoft.com/office/officeart/2018/2/layout/IconVerticalSolidList"/>
    <dgm:cxn modelId="{4049E93B-930A-4779-A734-32BCC5D98A0E}" type="presOf" srcId="{68D57F1F-9C47-4401-9A87-FF510D19CD33}" destId="{D7E78B51-B314-440A-B892-D957952602D6}" srcOrd="0" destOrd="0" presId="urn:microsoft.com/office/officeart/2018/2/layout/IconVerticalSolidList"/>
    <dgm:cxn modelId="{1A3B5EBB-AF2E-4E0F-BD66-1A05D14A92E6}" srcId="{40F284F2-C575-45F8-8177-94F50ED2B5D7}" destId="{B3779487-445B-4C7F-81A0-B64F31EA4A64}" srcOrd="2" destOrd="0" parTransId="{4E67DB7A-2501-4AE5-97AC-B31C00FD58D0}" sibTransId="{7144C07A-B98F-4882-838E-64C973C15351}"/>
    <dgm:cxn modelId="{00BCA7BB-35B8-44C6-9AAC-FE9B972E0B63}" type="presOf" srcId="{40F284F2-C575-45F8-8177-94F50ED2B5D7}" destId="{365D3B71-7336-48CC-8092-0D95A5C64D8A}" srcOrd="0" destOrd="0" presId="urn:microsoft.com/office/officeart/2018/2/layout/IconVerticalSolidList"/>
    <dgm:cxn modelId="{AD7D37D9-F31D-44DC-A2EC-E265D5CEF45D}" type="presOf" srcId="{15FE549C-8879-48D7-AA0B-E82BFD4F43AE}" destId="{52D47A95-BA73-496A-B2B5-E92448A539FB}" srcOrd="0" destOrd="0" presId="urn:microsoft.com/office/officeart/2018/2/layout/IconVerticalSolidList"/>
    <dgm:cxn modelId="{84A5C7EF-F76D-4975-B4F5-A23EE213A981}" type="presParOf" srcId="{365D3B71-7336-48CC-8092-0D95A5C64D8A}" destId="{CC2A169F-F338-45E1-99F7-8C157B09ECCC}" srcOrd="0" destOrd="0" presId="urn:microsoft.com/office/officeart/2018/2/layout/IconVerticalSolidList"/>
    <dgm:cxn modelId="{03DBF130-FF13-415D-87B2-82F6352A35DA}" type="presParOf" srcId="{CC2A169F-F338-45E1-99F7-8C157B09ECCC}" destId="{DE3A0292-FA67-452A-BD5A-31F0DC5CBC74}" srcOrd="0" destOrd="0" presId="urn:microsoft.com/office/officeart/2018/2/layout/IconVerticalSolidList"/>
    <dgm:cxn modelId="{79105542-D44B-453B-BD16-DC81201556FC}" type="presParOf" srcId="{CC2A169F-F338-45E1-99F7-8C157B09ECCC}" destId="{AE374A4A-2914-4460-B525-AD5B1BDE00EE}" srcOrd="1" destOrd="0" presId="urn:microsoft.com/office/officeart/2018/2/layout/IconVerticalSolidList"/>
    <dgm:cxn modelId="{C94CD225-47CB-47B2-A18E-A43364036F78}" type="presParOf" srcId="{CC2A169F-F338-45E1-99F7-8C157B09ECCC}" destId="{0F59B5E1-5B7C-4372-8C46-D9FA2F96A4E2}" srcOrd="2" destOrd="0" presId="urn:microsoft.com/office/officeart/2018/2/layout/IconVerticalSolidList"/>
    <dgm:cxn modelId="{DF6DCEC0-47F4-4940-B764-F707AA6807D6}" type="presParOf" srcId="{CC2A169F-F338-45E1-99F7-8C157B09ECCC}" destId="{D7E78B51-B314-440A-B892-D957952602D6}" srcOrd="3" destOrd="0" presId="urn:microsoft.com/office/officeart/2018/2/layout/IconVerticalSolidList"/>
    <dgm:cxn modelId="{75C5E5ED-6B16-41C4-B59B-3D8E66CD68CF}" type="presParOf" srcId="{365D3B71-7336-48CC-8092-0D95A5C64D8A}" destId="{FF9A0A14-7AE6-4BFC-9289-64C9B6ED194F}" srcOrd="1" destOrd="0" presId="urn:microsoft.com/office/officeart/2018/2/layout/IconVerticalSolidList"/>
    <dgm:cxn modelId="{DD340B15-1D3C-4EB6-A54D-8488B2C522C9}" type="presParOf" srcId="{365D3B71-7336-48CC-8092-0D95A5C64D8A}" destId="{189B8F66-9BF2-49B9-BB67-9776765DFFA7}" srcOrd="2" destOrd="0" presId="urn:microsoft.com/office/officeart/2018/2/layout/IconVerticalSolidList"/>
    <dgm:cxn modelId="{6092CFCE-837D-4973-9D7C-E2B8FE138F2D}" type="presParOf" srcId="{189B8F66-9BF2-49B9-BB67-9776765DFFA7}" destId="{F69C134A-2811-4A00-9AAE-0572CD36E33D}" srcOrd="0" destOrd="0" presId="urn:microsoft.com/office/officeart/2018/2/layout/IconVerticalSolidList"/>
    <dgm:cxn modelId="{3515EFBA-2464-4C13-B88D-F9CC4F61EB77}" type="presParOf" srcId="{189B8F66-9BF2-49B9-BB67-9776765DFFA7}" destId="{74C318B6-2A0D-4EFB-A688-C8F04CF5A905}" srcOrd="1" destOrd="0" presId="urn:microsoft.com/office/officeart/2018/2/layout/IconVerticalSolidList"/>
    <dgm:cxn modelId="{EF43AFC7-9A66-445F-9579-260A6EAE0D29}" type="presParOf" srcId="{189B8F66-9BF2-49B9-BB67-9776765DFFA7}" destId="{A4A91597-4B9A-4008-8A78-6C79BEDC61FC}" srcOrd="2" destOrd="0" presId="urn:microsoft.com/office/officeart/2018/2/layout/IconVerticalSolidList"/>
    <dgm:cxn modelId="{75410F4D-935A-42A7-8811-14CC1EEE3B23}" type="presParOf" srcId="{189B8F66-9BF2-49B9-BB67-9776765DFFA7}" destId="{52D47A95-BA73-496A-B2B5-E92448A539FB}" srcOrd="3" destOrd="0" presId="urn:microsoft.com/office/officeart/2018/2/layout/IconVerticalSolidList"/>
    <dgm:cxn modelId="{E87B179D-78EE-4D0A-A5A3-72EA2FA12D7F}" type="presParOf" srcId="{365D3B71-7336-48CC-8092-0D95A5C64D8A}" destId="{9B89AC6F-D9BE-4851-85A6-0A0852CB03A5}" srcOrd="3" destOrd="0" presId="urn:microsoft.com/office/officeart/2018/2/layout/IconVerticalSolidList"/>
    <dgm:cxn modelId="{31CB7997-FE6F-4261-84E4-E789FAF24539}" type="presParOf" srcId="{365D3B71-7336-48CC-8092-0D95A5C64D8A}" destId="{621CACEE-34E0-43AF-8D40-7542C1B1CEEB}" srcOrd="4" destOrd="0" presId="urn:microsoft.com/office/officeart/2018/2/layout/IconVerticalSolidList"/>
    <dgm:cxn modelId="{DFF2246A-85B8-4804-B177-9164FD50C98B}" type="presParOf" srcId="{621CACEE-34E0-43AF-8D40-7542C1B1CEEB}" destId="{2C686B4E-EE15-42A2-B6CD-0C991AFD0FF2}" srcOrd="0" destOrd="0" presId="urn:microsoft.com/office/officeart/2018/2/layout/IconVerticalSolidList"/>
    <dgm:cxn modelId="{B5ED8F1A-EE3D-4422-A300-00414A6F1C84}" type="presParOf" srcId="{621CACEE-34E0-43AF-8D40-7542C1B1CEEB}" destId="{CC63D19A-E4BF-410F-A186-BC9EC5368512}" srcOrd="1" destOrd="0" presId="urn:microsoft.com/office/officeart/2018/2/layout/IconVerticalSolidList"/>
    <dgm:cxn modelId="{BECD715D-0D97-415F-8D45-D770E21F9280}" type="presParOf" srcId="{621CACEE-34E0-43AF-8D40-7542C1B1CEEB}" destId="{8E2EEAF3-3437-405A-B66C-5C091D327064}" srcOrd="2" destOrd="0" presId="urn:microsoft.com/office/officeart/2018/2/layout/IconVerticalSolidList"/>
    <dgm:cxn modelId="{6928B95D-405A-477B-B264-9FFD56B8DCD3}" type="presParOf" srcId="{621CACEE-34E0-43AF-8D40-7542C1B1CEEB}" destId="{8C1FA572-8FCE-4871-B45C-790FC22EC0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1F2C15-78DC-427C-9358-B0071E3E313A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969637-56B1-4E9C-A092-BFE3CCF9145B}">
      <dgm:prSet phldrT="[Text]"/>
      <dgm:spPr/>
      <dgm:t>
        <a:bodyPr/>
        <a:lstStyle/>
        <a:p>
          <a:r>
            <a:rPr lang="en-IN" b="1" dirty="0">
              <a:solidFill>
                <a:srgbClr val="002060"/>
              </a:solidFill>
            </a:rPr>
            <a:t>Dual-stage Gradient Boosting Machine </a:t>
          </a:r>
          <a:r>
            <a:rPr lang="en-IN" dirty="0"/>
            <a:t>(</a:t>
          </a:r>
          <a:r>
            <a:rPr lang="en-IN" dirty="0" err="1"/>
            <a:t>GBM</a:t>
          </a:r>
          <a:r>
            <a:rPr lang="en-IN" dirty="0"/>
            <a:t>) architecture—utilizing a classifier to predict rain probability and a regressor for precipitation volume—effectively overcomes the overwhelming statistical bias of "no rain" hours.</a:t>
          </a:r>
        </a:p>
      </dgm:t>
    </dgm:pt>
    <dgm:pt modelId="{B2F93F37-2E75-428D-B7D2-A193CCEDDEF4}" type="parTrans" cxnId="{6BC9398A-9C7D-4E53-B8EB-E1F4583378F7}">
      <dgm:prSet/>
      <dgm:spPr/>
      <dgm:t>
        <a:bodyPr/>
        <a:lstStyle/>
        <a:p>
          <a:endParaRPr lang="en-IN"/>
        </a:p>
      </dgm:t>
    </dgm:pt>
    <dgm:pt modelId="{123B96DC-2128-4E7A-8DC3-B2281A69D2A9}" type="sibTrans" cxnId="{6BC9398A-9C7D-4E53-B8EB-E1F4583378F7}">
      <dgm:prSet/>
      <dgm:spPr/>
      <dgm:t>
        <a:bodyPr/>
        <a:lstStyle/>
        <a:p>
          <a:endParaRPr lang="en-IN"/>
        </a:p>
      </dgm:t>
    </dgm:pt>
    <dgm:pt modelId="{12CF2834-81FD-40E7-B422-F4B85261E8C5}">
      <dgm:prSet phldrT="[Text]"/>
      <dgm:spPr/>
      <dgm:t>
        <a:bodyPr/>
        <a:lstStyle/>
        <a:p>
          <a:r>
            <a:rPr lang="en-IN" dirty="0"/>
            <a:t>Pairing wide-area remote sensing data from </a:t>
          </a:r>
          <a:r>
            <a:rPr lang="en-IN" b="1" dirty="0">
              <a:solidFill>
                <a:srgbClr val="002060"/>
              </a:solidFill>
            </a:rPr>
            <a:t>NASA’s MERRA-2 and </a:t>
          </a:r>
          <a:r>
            <a:rPr lang="en-IN" b="1" dirty="0" err="1">
              <a:solidFill>
                <a:srgbClr val="002060"/>
              </a:solidFill>
            </a:rPr>
            <a:t>GPM</a:t>
          </a:r>
          <a:r>
            <a:rPr lang="en-IN" b="1" dirty="0">
              <a:solidFill>
                <a:srgbClr val="002060"/>
              </a:solidFill>
            </a:rPr>
            <a:t> instruments</a:t>
          </a:r>
          <a:r>
            <a:rPr lang="en-IN" dirty="0"/>
            <a:t> with a cascading machine learning ensemble optimizes tropical weather forecasting.</a:t>
          </a:r>
        </a:p>
      </dgm:t>
    </dgm:pt>
    <dgm:pt modelId="{EDB105C8-7645-4073-9661-C6526F60DB71}" type="parTrans" cxnId="{70F865B9-5F03-47DA-9787-C1A733AC8915}">
      <dgm:prSet/>
      <dgm:spPr/>
      <dgm:t>
        <a:bodyPr/>
        <a:lstStyle/>
        <a:p>
          <a:endParaRPr lang="en-IN"/>
        </a:p>
      </dgm:t>
    </dgm:pt>
    <dgm:pt modelId="{6B051581-7846-407F-BEE9-8E8F94C13FF0}" type="sibTrans" cxnId="{70F865B9-5F03-47DA-9787-C1A733AC8915}">
      <dgm:prSet/>
      <dgm:spPr/>
      <dgm:t>
        <a:bodyPr/>
        <a:lstStyle/>
        <a:p>
          <a:endParaRPr lang="en-IN"/>
        </a:p>
      </dgm:t>
    </dgm:pt>
    <dgm:pt modelId="{BA666EC7-ABD7-44DE-A126-1CB54A4FEFD0}">
      <dgm:prSet phldrT="[Text]"/>
      <dgm:spPr/>
      <dgm:t>
        <a:bodyPr/>
        <a:lstStyle/>
        <a:p>
          <a:r>
            <a:rPr lang="en-IN" dirty="0"/>
            <a:t>Delivers accurate, localized downpour </a:t>
          </a:r>
          <a:r>
            <a:rPr lang="en-IN" b="1" dirty="0">
              <a:solidFill>
                <a:srgbClr val="002060"/>
              </a:solidFill>
            </a:rPr>
            <a:t>forecasts to support flood resilience, water resource management, traffic planning</a:t>
          </a:r>
          <a:r>
            <a:rPr lang="en-IN" dirty="0"/>
            <a:t>, and early disaster risk reduction in Kolkata</a:t>
          </a:r>
        </a:p>
      </dgm:t>
    </dgm:pt>
    <dgm:pt modelId="{781D102E-8F57-42D5-BF88-42CBE7E4E32F}" type="parTrans" cxnId="{22121439-A787-4958-BACC-15D7130D1F8C}">
      <dgm:prSet/>
      <dgm:spPr/>
      <dgm:t>
        <a:bodyPr/>
        <a:lstStyle/>
        <a:p>
          <a:endParaRPr lang="en-IN"/>
        </a:p>
      </dgm:t>
    </dgm:pt>
    <dgm:pt modelId="{9CCFEB85-B223-4290-9FA7-86B49F717D01}" type="sibTrans" cxnId="{22121439-A787-4958-BACC-15D7130D1F8C}">
      <dgm:prSet/>
      <dgm:spPr/>
      <dgm:t>
        <a:bodyPr/>
        <a:lstStyle/>
        <a:p>
          <a:endParaRPr lang="en-IN"/>
        </a:p>
      </dgm:t>
    </dgm:pt>
    <dgm:pt modelId="{F9A43CBE-00D5-4BD0-A4A8-E951760759C3}" type="pres">
      <dgm:prSet presAssocID="{711F2C15-78DC-427C-9358-B0071E3E313A}" presName="Name0" presStyleCnt="0">
        <dgm:presLayoutVars>
          <dgm:dir/>
          <dgm:resizeHandles val="exact"/>
        </dgm:presLayoutVars>
      </dgm:prSet>
      <dgm:spPr/>
    </dgm:pt>
    <dgm:pt modelId="{70BF9DDD-4CD8-4F16-B5D9-C1492F01B6C9}" type="pres">
      <dgm:prSet presAssocID="{25969637-56B1-4E9C-A092-BFE3CCF9145B}" presName="composite" presStyleCnt="0"/>
      <dgm:spPr/>
    </dgm:pt>
    <dgm:pt modelId="{804B4299-62EC-4339-8C1B-5E5F761E5167}" type="pres">
      <dgm:prSet presAssocID="{25969637-56B1-4E9C-A092-BFE3CCF9145B}" presName="rect1" presStyleLbl="trAlignAcc1" presStyleIdx="0" presStyleCnt="3">
        <dgm:presLayoutVars>
          <dgm:bulletEnabled val="1"/>
        </dgm:presLayoutVars>
      </dgm:prSet>
      <dgm:spPr/>
    </dgm:pt>
    <dgm:pt modelId="{1BBFFA06-4AAA-4296-8539-4A85BC03C8D9}" type="pres">
      <dgm:prSet presAssocID="{25969637-56B1-4E9C-A092-BFE3CCF9145B}" presName="rect2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3000" r="-33000"/>
          </a:stretch>
        </a:blipFill>
      </dgm:spPr>
    </dgm:pt>
    <dgm:pt modelId="{BC8A413C-F534-409D-97DD-4787EB086CE1}" type="pres">
      <dgm:prSet presAssocID="{123B96DC-2128-4E7A-8DC3-B2281A69D2A9}" presName="sibTrans" presStyleCnt="0"/>
      <dgm:spPr/>
    </dgm:pt>
    <dgm:pt modelId="{B5481015-D3BF-4841-82ED-6D8BC51952FA}" type="pres">
      <dgm:prSet presAssocID="{12CF2834-81FD-40E7-B422-F4B85261E8C5}" presName="composite" presStyleCnt="0"/>
      <dgm:spPr/>
    </dgm:pt>
    <dgm:pt modelId="{9F567384-ED3E-4F4C-BF8A-DE8DD94ECAE0}" type="pres">
      <dgm:prSet presAssocID="{12CF2834-81FD-40E7-B422-F4B85261E8C5}" presName="rect1" presStyleLbl="trAlignAcc1" presStyleIdx="1" presStyleCnt="3">
        <dgm:presLayoutVars>
          <dgm:bulletEnabled val="1"/>
        </dgm:presLayoutVars>
      </dgm:prSet>
      <dgm:spPr/>
    </dgm:pt>
    <dgm:pt modelId="{EFD285CA-E7FD-45DF-8D82-9DF410F5F0F2}" type="pres">
      <dgm:prSet presAssocID="{12CF2834-81FD-40E7-B422-F4B85261E8C5}" presName="rect2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</dgm:pt>
    <dgm:pt modelId="{499F1CBF-7B25-41E8-A3B5-EB4C87FEB6F0}" type="pres">
      <dgm:prSet presAssocID="{6B051581-7846-407F-BEE9-8E8F94C13FF0}" presName="sibTrans" presStyleCnt="0"/>
      <dgm:spPr/>
    </dgm:pt>
    <dgm:pt modelId="{21B6D798-C2E6-4B21-B6BA-17332193D995}" type="pres">
      <dgm:prSet presAssocID="{BA666EC7-ABD7-44DE-A126-1CB54A4FEFD0}" presName="composite" presStyleCnt="0"/>
      <dgm:spPr/>
    </dgm:pt>
    <dgm:pt modelId="{E5DA0669-3980-4171-A826-7D9ADBD208AD}" type="pres">
      <dgm:prSet presAssocID="{BA666EC7-ABD7-44DE-A126-1CB54A4FEFD0}" presName="rect1" presStyleLbl="trAlignAcc1" presStyleIdx="2" presStyleCnt="3">
        <dgm:presLayoutVars>
          <dgm:bulletEnabled val="1"/>
        </dgm:presLayoutVars>
      </dgm:prSet>
      <dgm:spPr/>
    </dgm:pt>
    <dgm:pt modelId="{1E321FF5-6239-4077-AA55-1DEC40AF1286}" type="pres">
      <dgm:prSet presAssocID="{BA666EC7-ABD7-44DE-A126-1CB54A4FEFD0}" presName="rect2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37000" r="-37000"/>
          </a:stretch>
        </a:blipFill>
      </dgm:spPr>
    </dgm:pt>
  </dgm:ptLst>
  <dgm:cxnLst>
    <dgm:cxn modelId="{22121439-A787-4958-BACC-15D7130D1F8C}" srcId="{711F2C15-78DC-427C-9358-B0071E3E313A}" destId="{BA666EC7-ABD7-44DE-A126-1CB54A4FEFD0}" srcOrd="2" destOrd="0" parTransId="{781D102E-8F57-42D5-BF88-42CBE7E4E32F}" sibTransId="{9CCFEB85-B223-4290-9FA7-86B49F717D01}"/>
    <dgm:cxn modelId="{306BC865-45DF-4519-9DCF-198384806D7D}" type="presOf" srcId="{25969637-56B1-4E9C-A092-BFE3CCF9145B}" destId="{804B4299-62EC-4339-8C1B-5E5F761E5167}" srcOrd="0" destOrd="0" presId="urn:microsoft.com/office/officeart/2008/layout/PictureStrips"/>
    <dgm:cxn modelId="{BFDA207F-43D6-4F96-931C-F2A3D07E62B3}" type="presOf" srcId="{12CF2834-81FD-40E7-B422-F4B85261E8C5}" destId="{9F567384-ED3E-4F4C-BF8A-DE8DD94ECAE0}" srcOrd="0" destOrd="0" presId="urn:microsoft.com/office/officeart/2008/layout/PictureStrips"/>
    <dgm:cxn modelId="{6BC9398A-9C7D-4E53-B8EB-E1F4583378F7}" srcId="{711F2C15-78DC-427C-9358-B0071E3E313A}" destId="{25969637-56B1-4E9C-A092-BFE3CCF9145B}" srcOrd="0" destOrd="0" parTransId="{B2F93F37-2E75-428D-B7D2-A193CCEDDEF4}" sibTransId="{123B96DC-2128-4E7A-8DC3-B2281A69D2A9}"/>
    <dgm:cxn modelId="{3D8C789F-391E-4987-8187-8BC30303C811}" type="presOf" srcId="{BA666EC7-ABD7-44DE-A126-1CB54A4FEFD0}" destId="{E5DA0669-3980-4171-A826-7D9ADBD208AD}" srcOrd="0" destOrd="0" presId="urn:microsoft.com/office/officeart/2008/layout/PictureStrips"/>
    <dgm:cxn modelId="{70F865B9-5F03-47DA-9787-C1A733AC8915}" srcId="{711F2C15-78DC-427C-9358-B0071E3E313A}" destId="{12CF2834-81FD-40E7-B422-F4B85261E8C5}" srcOrd="1" destOrd="0" parTransId="{EDB105C8-7645-4073-9661-C6526F60DB71}" sibTransId="{6B051581-7846-407F-BEE9-8E8F94C13FF0}"/>
    <dgm:cxn modelId="{1AFC86E2-7758-4366-8C2C-BC1EF45D4F7B}" type="presOf" srcId="{711F2C15-78DC-427C-9358-B0071E3E313A}" destId="{F9A43CBE-00D5-4BD0-A4A8-E951760759C3}" srcOrd="0" destOrd="0" presId="urn:microsoft.com/office/officeart/2008/layout/PictureStrips"/>
    <dgm:cxn modelId="{3B7769D1-21AA-46EF-90C6-C92BC08211D4}" type="presParOf" srcId="{F9A43CBE-00D5-4BD0-A4A8-E951760759C3}" destId="{70BF9DDD-4CD8-4F16-B5D9-C1492F01B6C9}" srcOrd="0" destOrd="0" presId="urn:microsoft.com/office/officeart/2008/layout/PictureStrips"/>
    <dgm:cxn modelId="{DA7C3017-A89A-4189-835E-DADEFBA97B06}" type="presParOf" srcId="{70BF9DDD-4CD8-4F16-B5D9-C1492F01B6C9}" destId="{804B4299-62EC-4339-8C1B-5E5F761E5167}" srcOrd="0" destOrd="0" presId="urn:microsoft.com/office/officeart/2008/layout/PictureStrips"/>
    <dgm:cxn modelId="{F78153F3-9249-4553-9BC6-8CD1A01CB6B8}" type="presParOf" srcId="{70BF9DDD-4CD8-4F16-B5D9-C1492F01B6C9}" destId="{1BBFFA06-4AAA-4296-8539-4A85BC03C8D9}" srcOrd="1" destOrd="0" presId="urn:microsoft.com/office/officeart/2008/layout/PictureStrips"/>
    <dgm:cxn modelId="{AAE73DFF-80F8-47C8-83D0-C8298A897109}" type="presParOf" srcId="{F9A43CBE-00D5-4BD0-A4A8-E951760759C3}" destId="{BC8A413C-F534-409D-97DD-4787EB086CE1}" srcOrd="1" destOrd="0" presId="urn:microsoft.com/office/officeart/2008/layout/PictureStrips"/>
    <dgm:cxn modelId="{CBBFCB72-EDF4-4325-8843-DAA988F2CF0A}" type="presParOf" srcId="{F9A43CBE-00D5-4BD0-A4A8-E951760759C3}" destId="{B5481015-D3BF-4841-82ED-6D8BC51952FA}" srcOrd="2" destOrd="0" presId="urn:microsoft.com/office/officeart/2008/layout/PictureStrips"/>
    <dgm:cxn modelId="{181794DC-88A9-4DAC-8C41-E9F1A884951F}" type="presParOf" srcId="{B5481015-D3BF-4841-82ED-6D8BC51952FA}" destId="{9F567384-ED3E-4F4C-BF8A-DE8DD94ECAE0}" srcOrd="0" destOrd="0" presId="urn:microsoft.com/office/officeart/2008/layout/PictureStrips"/>
    <dgm:cxn modelId="{6E1F8FA8-B215-43CA-A99C-B6A8EE4DA7C4}" type="presParOf" srcId="{B5481015-D3BF-4841-82ED-6D8BC51952FA}" destId="{EFD285CA-E7FD-45DF-8D82-9DF410F5F0F2}" srcOrd="1" destOrd="0" presId="urn:microsoft.com/office/officeart/2008/layout/PictureStrips"/>
    <dgm:cxn modelId="{468F5021-2796-4344-9EE8-C5238F8D31C1}" type="presParOf" srcId="{F9A43CBE-00D5-4BD0-A4A8-E951760759C3}" destId="{499F1CBF-7B25-41E8-A3B5-EB4C87FEB6F0}" srcOrd="3" destOrd="0" presId="urn:microsoft.com/office/officeart/2008/layout/PictureStrips"/>
    <dgm:cxn modelId="{D434B4A2-0D69-44D5-AD11-0D107A5D77AC}" type="presParOf" srcId="{F9A43CBE-00D5-4BD0-A4A8-E951760759C3}" destId="{21B6D798-C2E6-4B21-B6BA-17332193D995}" srcOrd="4" destOrd="0" presId="urn:microsoft.com/office/officeart/2008/layout/PictureStrips"/>
    <dgm:cxn modelId="{D523388F-57C6-4F27-A3E4-8022B8B12B8E}" type="presParOf" srcId="{21B6D798-C2E6-4B21-B6BA-17332193D995}" destId="{E5DA0669-3980-4171-A826-7D9ADBD208AD}" srcOrd="0" destOrd="0" presId="urn:microsoft.com/office/officeart/2008/layout/PictureStrips"/>
    <dgm:cxn modelId="{35C0A42B-B0F7-4371-AA42-00A256798359}" type="presParOf" srcId="{21B6D798-C2E6-4B21-B6BA-17332193D995}" destId="{1E321FF5-6239-4077-AA55-1DEC40AF1286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D64F4-6D96-4545-9EC8-942422F9B7A3}">
      <dsp:nvSpPr>
        <dsp:cNvPr id="0" name=""/>
        <dsp:cNvSpPr/>
      </dsp:nvSpPr>
      <dsp:spPr>
        <a:xfrm>
          <a:off x="890745" y="235"/>
          <a:ext cx="4721781" cy="42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</a:t>
          </a:r>
        </a:p>
      </dsp:txBody>
      <dsp:txXfrm>
        <a:off x="890745" y="235"/>
        <a:ext cx="4721781" cy="429252"/>
      </dsp:txXfrm>
    </dsp:sp>
    <dsp:sp modelId="{369D6443-92DF-458E-816A-7660DBDACDB0}">
      <dsp:nvSpPr>
        <dsp:cNvPr id="0" name=""/>
        <dsp:cNvSpPr/>
      </dsp:nvSpPr>
      <dsp:spPr>
        <a:xfrm>
          <a:off x="890745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2311B-98DF-4F43-B905-CD2043EE9C7A}">
      <dsp:nvSpPr>
        <dsp:cNvPr id="0" name=""/>
        <dsp:cNvSpPr/>
      </dsp:nvSpPr>
      <dsp:spPr>
        <a:xfrm>
          <a:off x="1554417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0D9A1-FCEF-4B7C-A414-F1AC3BC9E459}">
      <dsp:nvSpPr>
        <dsp:cNvPr id="0" name=""/>
        <dsp:cNvSpPr/>
      </dsp:nvSpPr>
      <dsp:spPr>
        <a:xfrm>
          <a:off x="2218615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AA653-7464-4353-AA1D-4E0895EBD8ED}">
      <dsp:nvSpPr>
        <dsp:cNvPr id="0" name=""/>
        <dsp:cNvSpPr/>
      </dsp:nvSpPr>
      <dsp:spPr>
        <a:xfrm>
          <a:off x="2882287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C2E03-141D-4C3E-9350-38C6182298FD}">
      <dsp:nvSpPr>
        <dsp:cNvPr id="0" name=""/>
        <dsp:cNvSpPr/>
      </dsp:nvSpPr>
      <dsp:spPr>
        <a:xfrm>
          <a:off x="3546484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B4478-C0AB-40AC-80F0-5990D633DAA9}">
      <dsp:nvSpPr>
        <dsp:cNvPr id="0" name=""/>
        <dsp:cNvSpPr/>
      </dsp:nvSpPr>
      <dsp:spPr>
        <a:xfrm>
          <a:off x="4210157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A39EC-F556-4338-8410-10C08F8C2D33}">
      <dsp:nvSpPr>
        <dsp:cNvPr id="0" name=""/>
        <dsp:cNvSpPr/>
      </dsp:nvSpPr>
      <dsp:spPr>
        <a:xfrm>
          <a:off x="4874354" y="42948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56438-B7DE-4CC0-8C53-E7BAD3F7AC07}">
      <dsp:nvSpPr>
        <dsp:cNvPr id="0" name=""/>
        <dsp:cNvSpPr/>
      </dsp:nvSpPr>
      <dsp:spPr>
        <a:xfrm>
          <a:off x="890745" y="516929"/>
          <a:ext cx="4783164" cy="6995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Analyse Local Weather Data</a:t>
          </a:r>
        </a:p>
      </dsp:txBody>
      <dsp:txXfrm>
        <a:off x="890745" y="516929"/>
        <a:ext cx="4783164" cy="699523"/>
      </dsp:txXfrm>
    </dsp:sp>
    <dsp:sp modelId="{C8BE791A-B0B3-45FD-B94D-FD84EA6E945B}">
      <dsp:nvSpPr>
        <dsp:cNvPr id="0" name=""/>
        <dsp:cNvSpPr/>
      </dsp:nvSpPr>
      <dsp:spPr>
        <a:xfrm>
          <a:off x="890745" y="1365516"/>
          <a:ext cx="4721781" cy="42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 dirty="0"/>
        </a:p>
      </dsp:txBody>
      <dsp:txXfrm>
        <a:off x="890745" y="1365516"/>
        <a:ext cx="4721781" cy="429252"/>
      </dsp:txXfrm>
    </dsp:sp>
    <dsp:sp modelId="{65C29265-C774-41DF-9616-02EADAA6324C}">
      <dsp:nvSpPr>
        <dsp:cNvPr id="0" name=""/>
        <dsp:cNvSpPr/>
      </dsp:nvSpPr>
      <dsp:spPr>
        <a:xfrm>
          <a:off x="890745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5E900-9262-41B8-8B10-A0DD36E106BC}">
      <dsp:nvSpPr>
        <dsp:cNvPr id="0" name=""/>
        <dsp:cNvSpPr/>
      </dsp:nvSpPr>
      <dsp:spPr>
        <a:xfrm>
          <a:off x="1554417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38407-BB57-4EAE-BAF4-8D6D9C6D85E0}">
      <dsp:nvSpPr>
        <dsp:cNvPr id="0" name=""/>
        <dsp:cNvSpPr/>
      </dsp:nvSpPr>
      <dsp:spPr>
        <a:xfrm>
          <a:off x="2218615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F71AC-BF5E-4EB8-8600-A78443D0C73C}">
      <dsp:nvSpPr>
        <dsp:cNvPr id="0" name=""/>
        <dsp:cNvSpPr/>
      </dsp:nvSpPr>
      <dsp:spPr>
        <a:xfrm>
          <a:off x="2882287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87907-56AA-41F0-9E1E-88A85EC7DC1B}">
      <dsp:nvSpPr>
        <dsp:cNvPr id="0" name=""/>
        <dsp:cNvSpPr/>
      </dsp:nvSpPr>
      <dsp:spPr>
        <a:xfrm>
          <a:off x="3546484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6FF2D-240A-4F6C-8C35-01A06DE3717E}">
      <dsp:nvSpPr>
        <dsp:cNvPr id="0" name=""/>
        <dsp:cNvSpPr/>
      </dsp:nvSpPr>
      <dsp:spPr>
        <a:xfrm>
          <a:off x="4210157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CAA7F-CCF1-4BC7-A64D-CFD4B84C6A45}">
      <dsp:nvSpPr>
        <dsp:cNvPr id="0" name=""/>
        <dsp:cNvSpPr/>
      </dsp:nvSpPr>
      <dsp:spPr>
        <a:xfrm>
          <a:off x="4874354" y="1794768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FA3E1-87D6-48B5-91DD-FDEE8BFC07E4}">
      <dsp:nvSpPr>
        <dsp:cNvPr id="0" name=""/>
        <dsp:cNvSpPr/>
      </dsp:nvSpPr>
      <dsp:spPr>
        <a:xfrm>
          <a:off x="890745" y="1882209"/>
          <a:ext cx="4783164" cy="6995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Feature Pipeline Engineering</a:t>
          </a:r>
        </a:p>
      </dsp:txBody>
      <dsp:txXfrm>
        <a:off x="890745" y="1882209"/>
        <a:ext cx="4783164" cy="699523"/>
      </dsp:txXfrm>
    </dsp:sp>
    <dsp:sp modelId="{6BE2B037-9F70-42A2-A10E-EB842A3F19C7}">
      <dsp:nvSpPr>
        <dsp:cNvPr id="0" name=""/>
        <dsp:cNvSpPr/>
      </dsp:nvSpPr>
      <dsp:spPr>
        <a:xfrm>
          <a:off x="890745" y="2730796"/>
          <a:ext cx="4721781" cy="42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 dirty="0"/>
        </a:p>
      </dsp:txBody>
      <dsp:txXfrm>
        <a:off x="890745" y="2730796"/>
        <a:ext cx="4721781" cy="429252"/>
      </dsp:txXfrm>
    </dsp:sp>
    <dsp:sp modelId="{454763CC-4F4A-40B9-AF78-DAFF3E8D702B}">
      <dsp:nvSpPr>
        <dsp:cNvPr id="0" name=""/>
        <dsp:cNvSpPr/>
      </dsp:nvSpPr>
      <dsp:spPr>
        <a:xfrm>
          <a:off x="890745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48EE0-47E6-41EB-A80E-C75B05F17C6A}">
      <dsp:nvSpPr>
        <dsp:cNvPr id="0" name=""/>
        <dsp:cNvSpPr/>
      </dsp:nvSpPr>
      <dsp:spPr>
        <a:xfrm>
          <a:off x="1554417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B6B41-70B1-4774-A6F9-3D842FC6CF48}">
      <dsp:nvSpPr>
        <dsp:cNvPr id="0" name=""/>
        <dsp:cNvSpPr/>
      </dsp:nvSpPr>
      <dsp:spPr>
        <a:xfrm>
          <a:off x="2218615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4ED4F-4C7F-4EEF-89B5-C3E6DEB51557}">
      <dsp:nvSpPr>
        <dsp:cNvPr id="0" name=""/>
        <dsp:cNvSpPr/>
      </dsp:nvSpPr>
      <dsp:spPr>
        <a:xfrm>
          <a:off x="2882287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61405-E647-476D-BA65-48CCBD8D934D}">
      <dsp:nvSpPr>
        <dsp:cNvPr id="0" name=""/>
        <dsp:cNvSpPr/>
      </dsp:nvSpPr>
      <dsp:spPr>
        <a:xfrm>
          <a:off x="3546484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838E6-4985-47B3-9328-5A71455FF982}">
      <dsp:nvSpPr>
        <dsp:cNvPr id="0" name=""/>
        <dsp:cNvSpPr/>
      </dsp:nvSpPr>
      <dsp:spPr>
        <a:xfrm>
          <a:off x="4210157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64500-78DE-4BC2-AAA1-184FECE63BAE}">
      <dsp:nvSpPr>
        <dsp:cNvPr id="0" name=""/>
        <dsp:cNvSpPr/>
      </dsp:nvSpPr>
      <dsp:spPr>
        <a:xfrm>
          <a:off x="4874354" y="3160049"/>
          <a:ext cx="1104896" cy="874403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2EF56-FFE4-44D9-BADA-FCF13B40DC9E}">
      <dsp:nvSpPr>
        <dsp:cNvPr id="0" name=""/>
        <dsp:cNvSpPr/>
      </dsp:nvSpPr>
      <dsp:spPr>
        <a:xfrm>
          <a:off x="890745" y="3247489"/>
          <a:ext cx="4783164" cy="6995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Dual-Stage </a:t>
          </a:r>
          <a:r>
            <a:rPr lang="en-IN" sz="2200" b="1" kern="1200" dirty="0" err="1"/>
            <a:t>GBM</a:t>
          </a:r>
          <a:r>
            <a:rPr lang="en-IN" sz="2200" b="1" kern="1200" dirty="0"/>
            <a:t> Architecture </a:t>
          </a:r>
          <a:r>
            <a:rPr lang="en-IN" sz="2200" kern="1200" dirty="0"/>
            <a:t>for predicating weather pattern</a:t>
          </a:r>
        </a:p>
      </dsp:txBody>
      <dsp:txXfrm>
        <a:off x="890745" y="3247489"/>
        <a:ext cx="4783164" cy="699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90440-233F-4300-B232-74B3621EAC5D}">
      <dsp:nvSpPr>
        <dsp:cNvPr id="0" name=""/>
        <dsp:cNvSpPr/>
      </dsp:nvSpPr>
      <dsp:spPr>
        <a:xfrm>
          <a:off x="0" y="204514"/>
          <a:ext cx="6605856" cy="166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2688" tIns="229108" rIns="5126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 dirty="0"/>
            <a:t>High-end </a:t>
          </a:r>
          <a:r>
            <a:rPr lang="en-IN" sz="2200" b="1" kern="1200" dirty="0"/>
            <a:t>NWP models </a:t>
          </a:r>
          <a:r>
            <a:rPr lang="en-IN" sz="2200" kern="1200" dirty="0"/>
            <a:t>are computationally expensive and fail to capture localized monsoon volatility in Kolkata</a:t>
          </a:r>
        </a:p>
      </dsp:txBody>
      <dsp:txXfrm>
        <a:off x="0" y="204514"/>
        <a:ext cx="6605856" cy="1663200"/>
      </dsp:txXfrm>
    </dsp:sp>
    <dsp:sp modelId="{3DE74EB8-A70D-4BAF-BFEA-9F3649C1C7C1}">
      <dsp:nvSpPr>
        <dsp:cNvPr id="0" name=""/>
        <dsp:cNvSpPr/>
      </dsp:nvSpPr>
      <dsp:spPr>
        <a:xfrm>
          <a:off x="330292" y="42153"/>
          <a:ext cx="4624099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780" tIns="0" rIns="1747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Problem</a:t>
          </a:r>
        </a:p>
      </dsp:txBody>
      <dsp:txXfrm>
        <a:off x="346144" y="58005"/>
        <a:ext cx="4592395" cy="293016"/>
      </dsp:txXfrm>
    </dsp:sp>
    <dsp:sp modelId="{B8A8AE7E-D78D-4050-8703-7F48340FD5A9}">
      <dsp:nvSpPr>
        <dsp:cNvPr id="0" name=""/>
        <dsp:cNvSpPr/>
      </dsp:nvSpPr>
      <dsp:spPr>
        <a:xfrm>
          <a:off x="0" y="2089474"/>
          <a:ext cx="6605856" cy="1351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2688" tIns="229108" rIns="5126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kern="1200" dirty="0"/>
            <a:t>Big data and advanced machine learning offer modern alternatives to capture intricate, non-linear atmospheric patterns. </a:t>
          </a:r>
        </a:p>
      </dsp:txBody>
      <dsp:txXfrm>
        <a:off x="0" y="2089474"/>
        <a:ext cx="6605856" cy="1351349"/>
      </dsp:txXfrm>
    </dsp:sp>
    <dsp:sp modelId="{9AA2DE77-C19B-43AD-B7F3-89F05ADA5188}">
      <dsp:nvSpPr>
        <dsp:cNvPr id="0" name=""/>
        <dsp:cNvSpPr/>
      </dsp:nvSpPr>
      <dsp:spPr>
        <a:xfrm>
          <a:off x="330292" y="1927114"/>
          <a:ext cx="4624099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780" tIns="0" rIns="1747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Opportunity</a:t>
          </a:r>
        </a:p>
      </dsp:txBody>
      <dsp:txXfrm>
        <a:off x="346144" y="1942966"/>
        <a:ext cx="4592395" cy="293016"/>
      </dsp:txXfrm>
    </dsp:sp>
    <dsp:sp modelId="{6E7820A4-D35A-4C46-A282-8EFD3649A793}">
      <dsp:nvSpPr>
        <dsp:cNvPr id="0" name=""/>
        <dsp:cNvSpPr/>
      </dsp:nvSpPr>
      <dsp:spPr>
        <a:xfrm>
          <a:off x="0" y="3662584"/>
          <a:ext cx="6605856" cy="1351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2688" tIns="229108" rIns="5126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200" kern="1200" dirty="0"/>
            <a:t>We leverage </a:t>
          </a:r>
          <a:r>
            <a:rPr lang="en-IN" sz="2200" b="1" kern="1200" dirty="0"/>
            <a:t>NASA’s MERRA-2 and </a:t>
          </a:r>
          <a:r>
            <a:rPr lang="en-IN" sz="2200" b="1" kern="1200" dirty="0" err="1"/>
            <a:t>GPM</a:t>
          </a:r>
          <a:r>
            <a:rPr lang="en-IN" sz="2200" b="1" kern="1200" dirty="0"/>
            <a:t> satellite observations</a:t>
          </a:r>
          <a:r>
            <a:rPr lang="en-IN" sz="2200" kern="1200" dirty="0"/>
            <a:t> paired with a two-stage Gradient Boosting pipeline </a:t>
          </a:r>
        </a:p>
      </dsp:txBody>
      <dsp:txXfrm>
        <a:off x="0" y="3662584"/>
        <a:ext cx="6605856" cy="1351349"/>
      </dsp:txXfrm>
    </dsp:sp>
    <dsp:sp modelId="{CDF89AEE-6539-4EEB-8D9D-6858EAAFE059}">
      <dsp:nvSpPr>
        <dsp:cNvPr id="0" name=""/>
        <dsp:cNvSpPr/>
      </dsp:nvSpPr>
      <dsp:spPr>
        <a:xfrm>
          <a:off x="330292" y="3500224"/>
          <a:ext cx="4624099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780" tIns="0" rIns="1747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Solution</a:t>
          </a:r>
        </a:p>
      </dsp:txBody>
      <dsp:txXfrm>
        <a:off x="346144" y="3516076"/>
        <a:ext cx="4592395" cy="2930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DF0A89-1563-4636-B9A8-337F0E2D52E6}">
      <dsp:nvSpPr>
        <dsp:cNvPr id="0" name=""/>
        <dsp:cNvSpPr/>
      </dsp:nvSpPr>
      <dsp:spPr>
        <a:xfrm>
          <a:off x="4267" y="875978"/>
          <a:ext cx="2555322" cy="53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HARDWARE</a:t>
          </a:r>
        </a:p>
      </dsp:txBody>
      <dsp:txXfrm>
        <a:off x="19909" y="891620"/>
        <a:ext cx="2524038" cy="502759"/>
      </dsp:txXfrm>
    </dsp:sp>
    <dsp:sp modelId="{5B013C60-5A94-4808-8D0A-B03EC5F6C5DC}">
      <dsp:nvSpPr>
        <dsp:cNvPr id="0" name=""/>
        <dsp:cNvSpPr/>
      </dsp:nvSpPr>
      <dsp:spPr>
        <a:xfrm rot="19457599">
          <a:off x="2502176" y="940338"/>
          <a:ext cx="610832" cy="48819"/>
        </a:xfrm>
        <a:custGeom>
          <a:avLst/>
          <a:gdLst/>
          <a:ahLst/>
          <a:cxnLst/>
          <a:rect l="0" t="0" r="0" b="0"/>
          <a:pathLst>
            <a:path>
              <a:moveTo>
                <a:pt x="0" y="24409"/>
              </a:moveTo>
              <a:lnTo>
                <a:pt x="610832" y="244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92322" y="949477"/>
        <a:ext cx="30541" cy="30541"/>
      </dsp:txXfrm>
    </dsp:sp>
    <dsp:sp modelId="{E7AA7918-A5FC-4E74-9F86-3C854FF34157}">
      <dsp:nvSpPr>
        <dsp:cNvPr id="0" name=""/>
        <dsp:cNvSpPr/>
      </dsp:nvSpPr>
      <dsp:spPr>
        <a:xfrm>
          <a:off x="3055595" y="476492"/>
          <a:ext cx="1240014" cy="620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NodeMCU</a:t>
          </a:r>
          <a:r>
            <a:rPr lang="en-IN" sz="1600" kern="1200" dirty="0"/>
            <a:t> ESP 8266</a:t>
          </a:r>
        </a:p>
      </dsp:txBody>
      <dsp:txXfrm>
        <a:off x="3073754" y="494651"/>
        <a:ext cx="1203696" cy="583689"/>
      </dsp:txXfrm>
    </dsp:sp>
    <dsp:sp modelId="{B2BD2802-A467-41E5-9A98-0809B8E6473A}">
      <dsp:nvSpPr>
        <dsp:cNvPr id="0" name=""/>
        <dsp:cNvSpPr/>
      </dsp:nvSpPr>
      <dsp:spPr>
        <a:xfrm rot="2142401">
          <a:off x="2502176" y="1296842"/>
          <a:ext cx="610832" cy="48819"/>
        </a:xfrm>
        <a:custGeom>
          <a:avLst/>
          <a:gdLst/>
          <a:ahLst/>
          <a:cxnLst/>
          <a:rect l="0" t="0" r="0" b="0"/>
          <a:pathLst>
            <a:path>
              <a:moveTo>
                <a:pt x="0" y="24409"/>
              </a:moveTo>
              <a:lnTo>
                <a:pt x="610832" y="244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92322" y="1305981"/>
        <a:ext cx="30541" cy="30541"/>
      </dsp:txXfrm>
    </dsp:sp>
    <dsp:sp modelId="{B3AF9B5A-F730-453E-B71F-B417CB22ED75}">
      <dsp:nvSpPr>
        <dsp:cNvPr id="0" name=""/>
        <dsp:cNvSpPr/>
      </dsp:nvSpPr>
      <dsp:spPr>
        <a:xfrm>
          <a:off x="3055595" y="1189500"/>
          <a:ext cx="1240014" cy="620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GY –</a:t>
          </a:r>
          <a:r>
            <a:rPr lang="en-IN" sz="1600" kern="1200" dirty="0" err="1"/>
            <a:t>SHT30</a:t>
          </a:r>
          <a:r>
            <a:rPr lang="en-IN" sz="1600" kern="1200" dirty="0"/>
            <a:t>-D Sensor</a:t>
          </a:r>
        </a:p>
      </dsp:txBody>
      <dsp:txXfrm>
        <a:off x="3073754" y="1207659"/>
        <a:ext cx="1203696" cy="583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2E3B8-DE6E-4B1E-8E41-435A504A5AF2}">
      <dsp:nvSpPr>
        <dsp:cNvPr id="0" name=""/>
        <dsp:cNvSpPr/>
      </dsp:nvSpPr>
      <dsp:spPr>
        <a:xfrm>
          <a:off x="1596708" y="1631981"/>
          <a:ext cx="2132467" cy="18446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Software</a:t>
          </a:r>
        </a:p>
      </dsp:txBody>
      <dsp:txXfrm>
        <a:off x="1950088" y="1937669"/>
        <a:ext cx="1425707" cy="1233294"/>
      </dsp:txXfrm>
    </dsp:sp>
    <dsp:sp modelId="{67FF1105-DE2A-4E8C-B09D-909F2237FF43}">
      <dsp:nvSpPr>
        <dsp:cNvPr id="0" name=""/>
        <dsp:cNvSpPr/>
      </dsp:nvSpPr>
      <dsp:spPr>
        <a:xfrm>
          <a:off x="2932042" y="795179"/>
          <a:ext cx="804573" cy="69324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1D5CE-C4E6-4BB9-980A-21EC27FFF56C}">
      <dsp:nvSpPr>
        <dsp:cNvPr id="0" name=""/>
        <dsp:cNvSpPr/>
      </dsp:nvSpPr>
      <dsp:spPr>
        <a:xfrm>
          <a:off x="1793139" y="0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Streamlit</a:t>
          </a:r>
          <a:endParaRPr lang="en-IN" sz="1800" kern="1200" dirty="0"/>
        </a:p>
      </dsp:txBody>
      <dsp:txXfrm>
        <a:off x="2082744" y="250542"/>
        <a:ext cx="1168331" cy="1010744"/>
      </dsp:txXfrm>
    </dsp:sp>
    <dsp:sp modelId="{929CF1C6-AE87-45D8-8542-CA3ED0FD2D22}">
      <dsp:nvSpPr>
        <dsp:cNvPr id="0" name=""/>
        <dsp:cNvSpPr/>
      </dsp:nvSpPr>
      <dsp:spPr>
        <a:xfrm>
          <a:off x="3871042" y="2091181"/>
          <a:ext cx="804573" cy="69324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849A6-FB6A-401F-96C4-D33CB540F8D5}">
      <dsp:nvSpPr>
        <dsp:cNvPr id="0" name=""/>
        <dsp:cNvSpPr/>
      </dsp:nvSpPr>
      <dsp:spPr>
        <a:xfrm>
          <a:off x="3395838" y="929876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Plotly</a:t>
          </a:r>
          <a:r>
            <a:rPr lang="en-IN" sz="1800" kern="1200" dirty="0"/>
            <a:t> </a:t>
          </a:r>
        </a:p>
      </dsp:txBody>
      <dsp:txXfrm>
        <a:off x="3685443" y="1180418"/>
        <a:ext cx="1168331" cy="1010744"/>
      </dsp:txXfrm>
    </dsp:sp>
    <dsp:sp modelId="{3835D7A7-E294-4B79-AE3F-211ADE6C69B7}">
      <dsp:nvSpPr>
        <dsp:cNvPr id="0" name=""/>
        <dsp:cNvSpPr/>
      </dsp:nvSpPr>
      <dsp:spPr>
        <a:xfrm>
          <a:off x="3218752" y="3554124"/>
          <a:ext cx="804573" cy="69324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CCEF4-FAB5-450C-B7A3-AA8DBD412E47}">
      <dsp:nvSpPr>
        <dsp:cNvPr id="0" name=""/>
        <dsp:cNvSpPr/>
      </dsp:nvSpPr>
      <dsp:spPr>
        <a:xfrm>
          <a:off x="3395838" y="2757904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Numpy</a:t>
          </a:r>
          <a:r>
            <a:rPr lang="en-IN" sz="1800" kern="1200" dirty="0"/>
            <a:t> &amp; Pandas</a:t>
          </a:r>
        </a:p>
      </dsp:txBody>
      <dsp:txXfrm>
        <a:off x="3685443" y="3008446"/>
        <a:ext cx="1168331" cy="1010744"/>
      </dsp:txXfrm>
    </dsp:sp>
    <dsp:sp modelId="{E27BA64B-32AA-4FFB-91F6-6B2D6223D50F}">
      <dsp:nvSpPr>
        <dsp:cNvPr id="0" name=""/>
        <dsp:cNvSpPr/>
      </dsp:nvSpPr>
      <dsp:spPr>
        <a:xfrm>
          <a:off x="1600676" y="3705983"/>
          <a:ext cx="804573" cy="69324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913BB-70CF-4263-AEFA-B4D08CA72BEE}">
      <dsp:nvSpPr>
        <dsp:cNvPr id="0" name=""/>
        <dsp:cNvSpPr/>
      </dsp:nvSpPr>
      <dsp:spPr>
        <a:xfrm>
          <a:off x="1793139" y="3688821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Scikit-learn &amp; </a:t>
          </a:r>
          <a:r>
            <a:rPr lang="en-IN" sz="1800" kern="1200" dirty="0" err="1"/>
            <a:t>Xgboost</a:t>
          </a:r>
          <a:endParaRPr lang="en-IN" sz="1800" kern="1200" dirty="0"/>
        </a:p>
      </dsp:txBody>
      <dsp:txXfrm>
        <a:off x="2082744" y="3939363"/>
        <a:ext cx="1168331" cy="1010744"/>
      </dsp:txXfrm>
    </dsp:sp>
    <dsp:sp modelId="{A9753E83-EDC8-4C5B-B3F6-E60F10A1B3D2}">
      <dsp:nvSpPr>
        <dsp:cNvPr id="0" name=""/>
        <dsp:cNvSpPr/>
      </dsp:nvSpPr>
      <dsp:spPr>
        <a:xfrm>
          <a:off x="646299" y="2410501"/>
          <a:ext cx="804573" cy="69324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097F3-1DF1-4844-B697-3DE68C201946}">
      <dsp:nvSpPr>
        <dsp:cNvPr id="0" name=""/>
        <dsp:cNvSpPr/>
      </dsp:nvSpPr>
      <dsp:spPr>
        <a:xfrm>
          <a:off x="183000" y="2758944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Earthacess</a:t>
          </a:r>
          <a:r>
            <a:rPr lang="en-IN" sz="1800" kern="1200" dirty="0"/>
            <a:t> &amp; </a:t>
          </a:r>
          <a:r>
            <a:rPr lang="en-IN" sz="1800" kern="1200" dirty="0" err="1"/>
            <a:t>Xarray</a:t>
          </a:r>
          <a:endParaRPr lang="en-IN" sz="1800" kern="1200" dirty="0"/>
        </a:p>
      </dsp:txBody>
      <dsp:txXfrm>
        <a:off x="472605" y="3009486"/>
        <a:ext cx="1168331" cy="1010744"/>
      </dsp:txXfrm>
    </dsp:sp>
    <dsp:sp modelId="{FD52C00C-31FB-4E24-B33F-7B3FD0932048}">
      <dsp:nvSpPr>
        <dsp:cNvPr id="0" name=""/>
        <dsp:cNvSpPr/>
      </dsp:nvSpPr>
      <dsp:spPr>
        <a:xfrm>
          <a:off x="183000" y="927795"/>
          <a:ext cx="1747541" cy="1511828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Joblib</a:t>
          </a:r>
          <a:r>
            <a:rPr lang="en-IN" sz="1800" kern="1200" dirty="0"/>
            <a:t> &amp; Request</a:t>
          </a:r>
        </a:p>
      </dsp:txBody>
      <dsp:txXfrm>
        <a:off x="472605" y="1178337"/>
        <a:ext cx="1168331" cy="10107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A0292-FA67-452A-BD5A-31F0DC5CBC74}">
      <dsp:nvSpPr>
        <dsp:cNvPr id="0" name=""/>
        <dsp:cNvSpPr/>
      </dsp:nvSpPr>
      <dsp:spPr>
        <a:xfrm>
          <a:off x="0" y="0"/>
          <a:ext cx="6833175" cy="15953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74A4A-2914-4460-B525-AD5B1BDE00EE}">
      <dsp:nvSpPr>
        <dsp:cNvPr id="0" name=""/>
        <dsp:cNvSpPr/>
      </dsp:nvSpPr>
      <dsp:spPr>
        <a:xfrm>
          <a:off x="482581" y="359626"/>
          <a:ext cx="877420" cy="877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78B51-B314-440A-B892-D957952602D6}">
      <dsp:nvSpPr>
        <dsp:cNvPr id="0" name=""/>
        <dsp:cNvSpPr/>
      </dsp:nvSpPr>
      <dsp:spPr>
        <a:xfrm>
          <a:off x="1842582" y="681"/>
          <a:ext cx="4990592" cy="1595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37" tIns="168837" rIns="168837" bIns="16883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Deep Learning for Sequential Extraction</a:t>
          </a:r>
          <a:r>
            <a:rPr lang="en-IN" sz="1700" kern="1200" dirty="0"/>
            <a:t>: Future research must focus on optimizing advanced Deep Learning (DL) architectures, like Long Short-Term Memory (LSTM) networks or Temporal Convolutional Networks (</a:t>
          </a:r>
          <a:r>
            <a:rPr lang="en-IN" sz="1700" kern="1200" dirty="0" err="1"/>
            <a:t>TCNs</a:t>
          </a:r>
          <a:endParaRPr lang="en-US" sz="1700" kern="1200" dirty="0"/>
        </a:p>
      </dsp:txBody>
      <dsp:txXfrm>
        <a:off x="1842582" y="681"/>
        <a:ext cx="4990592" cy="1595309"/>
      </dsp:txXfrm>
    </dsp:sp>
    <dsp:sp modelId="{F69C134A-2811-4A00-9AAE-0572CD36E33D}">
      <dsp:nvSpPr>
        <dsp:cNvPr id="0" name=""/>
        <dsp:cNvSpPr/>
      </dsp:nvSpPr>
      <dsp:spPr>
        <a:xfrm>
          <a:off x="0" y="1994818"/>
          <a:ext cx="6833175" cy="15953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318B6-2A0D-4EFB-A688-C8F04CF5A905}">
      <dsp:nvSpPr>
        <dsp:cNvPr id="0" name=""/>
        <dsp:cNvSpPr/>
      </dsp:nvSpPr>
      <dsp:spPr>
        <a:xfrm>
          <a:off x="482581" y="2353762"/>
          <a:ext cx="877420" cy="877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47A95-BA73-496A-B2B5-E92448A539FB}">
      <dsp:nvSpPr>
        <dsp:cNvPr id="0" name=""/>
        <dsp:cNvSpPr/>
      </dsp:nvSpPr>
      <dsp:spPr>
        <a:xfrm>
          <a:off x="1842582" y="1994818"/>
          <a:ext cx="4990592" cy="1595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37" tIns="168837" rIns="168837" bIns="16883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Hyper-Local Nowcasting</a:t>
          </a:r>
          <a:r>
            <a:rPr lang="en-IN" sz="1700" kern="1200" dirty="0"/>
            <a:t>: Leveraging real-time data from IoT weather sensors deployed across different municipal zones in Kolkata to develop hyper-local, real-time nowcasting (0-3 hours) for rainfall.</a:t>
          </a:r>
          <a:endParaRPr lang="en-US" sz="1700" kern="1200" dirty="0"/>
        </a:p>
      </dsp:txBody>
      <dsp:txXfrm>
        <a:off x="1842582" y="1994818"/>
        <a:ext cx="4990592" cy="1595309"/>
      </dsp:txXfrm>
    </dsp:sp>
    <dsp:sp modelId="{2C686B4E-EE15-42A2-B6CD-0C991AFD0FF2}">
      <dsp:nvSpPr>
        <dsp:cNvPr id="0" name=""/>
        <dsp:cNvSpPr/>
      </dsp:nvSpPr>
      <dsp:spPr>
        <a:xfrm>
          <a:off x="0" y="3988954"/>
          <a:ext cx="6833175" cy="15953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3D19A-E4BF-410F-A186-BC9EC5368512}">
      <dsp:nvSpPr>
        <dsp:cNvPr id="0" name=""/>
        <dsp:cNvSpPr/>
      </dsp:nvSpPr>
      <dsp:spPr>
        <a:xfrm>
          <a:off x="482581" y="4347899"/>
          <a:ext cx="877420" cy="877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FA572-8FCE-4871-B45C-790FC22EC0F0}">
      <dsp:nvSpPr>
        <dsp:cNvPr id="0" name=""/>
        <dsp:cNvSpPr/>
      </dsp:nvSpPr>
      <dsp:spPr>
        <a:xfrm>
          <a:off x="1842582" y="3988954"/>
          <a:ext cx="4990592" cy="1595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837" tIns="168837" rIns="168837" bIns="16883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Extreme Event Extrapolation</a:t>
          </a:r>
          <a:r>
            <a:rPr lang="en-IN" sz="1700" kern="1200" dirty="0"/>
            <a:t>: Future work will focus on integrating Extreme Value Theory (EVT) to ensure the model remains robust during severe climatic anomalies.</a:t>
          </a:r>
          <a:endParaRPr lang="en-US" sz="1700" kern="1200" dirty="0"/>
        </a:p>
      </dsp:txBody>
      <dsp:txXfrm>
        <a:off x="1842582" y="3988954"/>
        <a:ext cx="4990592" cy="15953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B4299-62EC-4339-8C1B-5E5F761E5167}">
      <dsp:nvSpPr>
        <dsp:cNvPr id="0" name=""/>
        <dsp:cNvSpPr/>
      </dsp:nvSpPr>
      <dsp:spPr>
        <a:xfrm>
          <a:off x="196208" y="850812"/>
          <a:ext cx="4605131" cy="143910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753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solidFill>
                <a:srgbClr val="002060"/>
              </a:solidFill>
            </a:rPr>
            <a:t>Dual-stage Gradient Boosting Machine </a:t>
          </a:r>
          <a:r>
            <a:rPr lang="en-IN" sz="1500" kern="1200" dirty="0"/>
            <a:t>(</a:t>
          </a:r>
          <a:r>
            <a:rPr lang="en-IN" sz="1500" kern="1200" dirty="0" err="1"/>
            <a:t>GBM</a:t>
          </a:r>
          <a:r>
            <a:rPr lang="en-IN" sz="1500" kern="1200" dirty="0"/>
            <a:t>) architecture—utilizing a classifier to predict rain probability and a regressor for precipitation volume—effectively overcomes the overwhelming statistical bias of "no rain" hours.</a:t>
          </a:r>
        </a:p>
      </dsp:txBody>
      <dsp:txXfrm>
        <a:off x="196208" y="850812"/>
        <a:ext cx="4605131" cy="1439103"/>
      </dsp:txXfrm>
    </dsp:sp>
    <dsp:sp modelId="{1BBFFA06-4AAA-4296-8539-4A85BC03C8D9}">
      <dsp:nvSpPr>
        <dsp:cNvPr id="0" name=""/>
        <dsp:cNvSpPr/>
      </dsp:nvSpPr>
      <dsp:spPr>
        <a:xfrm>
          <a:off x="4327" y="642941"/>
          <a:ext cx="1007372" cy="151105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33000" r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67384-ED3E-4F4C-BF8A-DE8DD94ECAE0}">
      <dsp:nvSpPr>
        <dsp:cNvPr id="0" name=""/>
        <dsp:cNvSpPr/>
      </dsp:nvSpPr>
      <dsp:spPr>
        <a:xfrm>
          <a:off x="5224654" y="850812"/>
          <a:ext cx="4605131" cy="143910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753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Pairing wide-area remote sensing data from </a:t>
          </a:r>
          <a:r>
            <a:rPr lang="en-IN" sz="1500" b="1" kern="1200" dirty="0">
              <a:solidFill>
                <a:srgbClr val="002060"/>
              </a:solidFill>
            </a:rPr>
            <a:t>NASA’s MERRA-2 and </a:t>
          </a:r>
          <a:r>
            <a:rPr lang="en-IN" sz="1500" b="1" kern="1200" dirty="0" err="1">
              <a:solidFill>
                <a:srgbClr val="002060"/>
              </a:solidFill>
            </a:rPr>
            <a:t>GPM</a:t>
          </a:r>
          <a:r>
            <a:rPr lang="en-IN" sz="1500" b="1" kern="1200" dirty="0">
              <a:solidFill>
                <a:srgbClr val="002060"/>
              </a:solidFill>
            </a:rPr>
            <a:t> instruments</a:t>
          </a:r>
          <a:r>
            <a:rPr lang="en-IN" sz="1500" kern="1200" dirty="0"/>
            <a:t> with a cascading machine learning ensemble optimizes tropical weather forecasting.</a:t>
          </a:r>
        </a:p>
      </dsp:txBody>
      <dsp:txXfrm>
        <a:off x="5224654" y="850812"/>
        <a:ext cx="4605131" cy="1439103"/>
      </dsp:txXfrm>
    </dsp:sp>
    <dsp:sp modelId="{EFD285CA-E7FD-45DF-8D82-9DF410F5F0F2}">
      <dsp:nvSpPr>
        <dsp:cNvPr id="0" name=""/>
        <dsp:cNvSpPr/>
      </dsp:nvSpPr>
      <dsp:spPr>
        <a:xfrm>
          <a:off x="5032774" y="642941"/>
          <a:ext cx="1007372" cy="1511058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A0669-3980-4171-A826-7D9ADBD208AD}">
      <dsp:nvSpPr>
        <dsp:cNvPr id="0" name=""/>
        <dsp:cNvSpPr/>
      </dsp:nvSpPr>
      <dsp:spPr>
        <a:xfrm>
          <a:off x="2710431" y="2662483"/>
          <a:ext cx="4605131" cy="143910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753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Delivers accurate, localized downpour </a:t>
          </a:r>
          <a:r>
            <a:rPr lang="en-IN" sz="1500" b="1" kern="1200" dirty="0">
              <a:solidFill>
                <a:srgbClr val="002060"/>
              </a:solidFill>
            </a:rPr>
            <a:t>forecasts to support flood resilience, water resource management, traffic planning</a:t>
          </a:r>
          <a:r>
            <a:rPr lang="en-IN" sz="1500" kern="1200" dirty="0"/>
            <a:t>, and early disaster risk reduction in Kolkata</a:t>
          </a:r>
        </a:p>
      </dsp:txBody>
      <dsp:txXfrm>
        <a:off x="2710431" y="2662483"/>
        <a:ext cx="4605131" cy="1439103"/>
      </dsp:txXfrm>
    </dsp:sp>
    <dsp:sp modelId="{1E321FF5-6239-4077-AA55-1DEC40AF1286}">
      <dsp:nvSpPr>
        <dsp:cNvPr id="0" name=""/>
        <dsp:cNvSpPr/>
      </dsp:nvSpPr>
      <dsp:spPr>
        <a:xfrm>
          <a:off x="2518551" y="2454613"/>
          <a:ext cx="1007372" cy="1511058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37000" r="-3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15:23:36.8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30 24418,'944'-30'0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1T15:23:41.8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58 24489,'1240'-58'0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44:28.929"/>
    </inkml:context>
    <inkml:brush xml:id="br0">
      <inkml:brushProperty name="width" value="0.35" units="cm"/>
      <inkml:brushProperty name="height" value="0.35" units="cm"/>
      <inkml:brushProperty name="color" value="#F2F6FC"/>
    </inkml:brush>
  </inkml:definitions>
  <inkml:trace contextRef="#ctx0" brushRef="#br0">68 1 24575,'-7'4'0,"-6"4"0,-2 9 0,3 5 0,3 3 0,3 3 0,3 2 0,1-2 0,2 3 0,0-1 0,4-1 0,6-3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07:44:34.023"/>
    </inkml:context>
    <inkml:brush xml:id="br0">
      <inkml:brushProperty name="width" value="0.35" units="cm"/>
      <inkml:brushProperty name="height" value="0.35" units="cm"/>
      <inkml:brushProperty name="color" value="#F2F6FC"/>
    </inkml:brush>
  </inkml:definitions>
  <inkml:trace contextRef="#ctx0" brushRef="#br0">1 65 24559,'3830'-65'0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2T14:43:33.089"/>
    </inkml:context>
    <inkml:brush xml:id="br0">
      <inkml:brushProperty name="width" value="0.35" units="cm"/>
      <inkml:brushProperty name="height" value="0.35" units="cm"/>
      <inkml:brushProperty name="color" value="#F4F8F6"/>
    </inkml:brush>
  </inkml:definitions>
  <inkml:trace contextRef="#ctx0" brushRef="#br0">0 5 24423,'2725'0'0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66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7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48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87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3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48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6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48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9.png"/><Relationship Id="rId4" Type="http://schemas.openxmlformats.org/officeDocument/2006/relationships/customXml" Target="../ink/ink3.xml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CBFE6-2A37-1A6F-EB69-0C3A2249F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610387"/>
            <a:ext cx="6625590" cy="164306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002060"/>
                </a:solidFill>
              </a:rPr>
              <a:t>ANALYSIS AND PREDICTION OF WEATHER PATTERNS USING SATELLITE OBSERVATIONS AND MACHINE LEARNING MODELS</a:t>
            </a:r>
            <a:endParaRPr lang="en-IN" sz="3200" b="1" dirty="0">
              <a:solidFill>
                <a:srgbClr val="002060"/>
              </a:solidFill>
            </a:endParaRPr>
          </a:p>
        </p:txBody>
      </p:sp>
      <p:pic>
        <p:nvPicPr>
          <p:cNvPr id="13" name="Picture 12" descr="A long row of satellite dishes in the sunset">
            <a:extLst>
              <a:ext uri="{FF2B5EF4-FFF2-40B4-BE49-F238E27FC236}">
                <a16:creationId xmlns:a16="http://schemas.microsoft.com/office/drawing/2014/main" id="{86FEB0CD-277E-C37C-F779-70930399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3037" r="6219"/>
          <a:stretch>
            <a:fillRect/>
          </a:stretch>
        </p:blipFill>
        <p:spPr>
          <a:xfrm>
            <a:off x="482600" y="489856"/>
            <a:ext cx="3587201" cy="5878282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903A68-F2F9-497C-84E3-828803AD6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B4113D-3F0C-4EF3-B283-1A0B699B2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F178B7-F3AA-2D40-F422-690D2A9FEF6C}"/>
              </a:ext>
            </a:extLst>
          </p:cNvPr>
          <p:cNvSpPr txBox="1"/>
          <p:nvPr/>
        </p:nvSpPr>
        <p:spPr>
          <a:xfrm>
            <a:off x="4092892" y="4456585"/>
            <a:ext cx="818578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u="sng" dirty="0">
                <a:solidFill>
                  <a:srgbClr val="002060"/>
                </a:solidFill>
              </a:rPr>
              <a:t>NAME</a:t>
            </a:r>
            <a:r>
              <a:rPr lang="en-IN" sz="1900" dirty="0">
                <a:solidFill>
                  <a:srgbClr val="002060"/>
                </a:solidFill>
              </a:rPr>
              <a:t>		      	</a:t>
            </a:r>
            <a:r>
              <a:rPr lang="en-IN" sz="1900" b="1" u="sng" dirty="0">
                <a:solidFill>
                  <a:srgbClr val="002060"/>
                </a:solidFill>
              </a:rPr>
              <a:t>CLASS ROLL</a:t>
            </a:r>
            <a:r>
              <a:rPr lang="en-IN" sz="1900" dirty="0">
                <a:solidFill>
                  <a:srgbClr val="002060"/>
                </a:solidFill>
              </a:rPr>
              <a:t>		</a:t>
            </a:r>
            <a:r>
              <a:rPr lang="en-IN" sz="1900" b="1" u="sng" dirty="0" err="1">
                <a:solidFill>
                  <a:srgbClr val="002060"/>
                </a:solidFill>
              </a:rPr>
              <a:t>UNIV</a:t>
            </a:r>
            <a:r>
              <a:rPr lang="en-IN" sz="1900" b="1" u="sng" dirty="0">
                <a:solidFill>
                  <a:srgbClr val="002060"/>
                </a:solidFill>
              </a:rPr>
              <a:t> ROLL NO</a:t>
            </a:r>
          </a:p>
          <a:p>
            <a:endParaRPr lang="en-IN" sz="1900" dirty="0">
              <a:solidFill>
                <a:srgbClr val="002060"/>
              </a:solidFill>
            </a:endParaRPr>
          </a:p>
          <a:p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anose="02020603050405020304" pitchFamily="18" charset="0"/>
              </a:rPr>
              <a:t>AGNIK GHOSH  </a:t>
            </a:r>
            <a:r>
              <a:rPr lang="en-IN" sz="1900" dirty="0">
                <a:latin typeface="+mj-lt"/>
              </a:rPr>
              <a:t>	              	            29		12200322044</a:t>
            </a:r>
          </a:p>
          <a:p>
            <a:r>
              <a:rPr lang="en-IN" sz="1900" dirty="0" err="1"/>
              <a:t>ABHRANIL</a:t>
            </a:r>
            <a:r>
              <a:rPr lang="en-IN" sz="1900" dirty="0"/>
              <a:t> CHAKRABORTY      09		12200322025</a:t>
            </a:r>
          </a:p>
          <a:p>
            <a:r>
              <a:rPr lang="en-IN" sz="1900" dirty="0"/>
              <a:t>SANTANU MONDAL	            37		12200322013</a:t>
            </a:r>
          </a:p>
          <a:p>
            <a:r>
              <a:rPr lang="en-IN" sz="1900" dirty="0" err="1"/>
              <a:t>CRASIVA</a:t>
            </a:r>
            <a:r>
              <a:rPr lang="en-IN" sz="1900" dirty="0"/>
              <a:t> CHAUDHURY	            16		12200322050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54AA6-C62A-4F8D-0A23-7347BB3D5757}"/>
              </a:ext>
            </a:extLst>
          </p:cNvPr>
          <p:cNvSpPr txBox="1"/>
          <p:nvPr/>
        </p:nvSpPr>
        <p:spPr>
          <a:xfrm>
            <a:off x="5876041" y="3679443"/>
            <a:ext cx="4619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Under the Guidance of</a:t>
            </a:r>
          </a:p>
          <a:p>
            <a:pPr algn="ctr"/>
            <a:r>
              <a:rPr lang="en-IN" dirty="0"/>
              <a:t>Dr. Tuhina Halder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A6C1EE-6E17-BA09-8CE5-C86960389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390A7B-0593-CBC3-477A-2B9CE6EC658D}"/>
              </a:ext>
            </a:extLst>
          </p:cNvPr>
          <p:cNvSpPr txBox="1"/>
          <p:nvPr/>
        </p:nvSpPr>
        <p:spPr>
          <a:xfrm>
            <a:off x="4092892" y="2685607"/>
            <a:ext cx="818578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NAME: PROJECT STAGE-II			SEMESTER-8</a:t>
            </a:r>
            <a:r>
              <a:rPr 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COURSE CODE :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EC881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			            SESSION-2025-26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ECE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YEAR			          		   	GROUP: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E3A310-6C76-C526-F492-6245E087DC70}"/>
              </a:ext>
            </a:extLst>
          </p:cNvPr>
          <p:cNvSpPr txBox="1"/>
          <p:nvPr/>
        </p:nvSpPr>
        <p:spPr>
          <a:xfrm>
            <a:off x="4069802" y="2581763"/>
            <a:ext cx="8058610" cy="179708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7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235125C-8179-F770-A523-BA6E51AFA3FF}"/>
              </a:ext>
            </a:extLst>
          </p:cNvPr>
          <p:cNvSpPr txBox="1"/>
          <p:nvPr/>
        </p:nvSpPr>
        <p:spPr>
          <a:xfrm>
            <a:off x="482601" y="547013"/>
            <a:ext cx="9338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B8A10D-F31F-A6BC-1E65-2AFB2B655490}"/>
              </a:ext>
            </a:extLst>
          </p:cNvPr>
          <p:cNvSpPr txBox="1">
            <a:spLocks/>
          </p:cNvSpPr>
          <p:nvPr/>
        </p:nvSpPr>
        <p:spPr>
          <a:xfrm>
            <a:off x="7412199" y="1692007"/>
            <a:ext cx="5457504" cy="29581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u="sng" dirty="0">
                <a:solidFill>
                  <a:srgbClr val="002060"/>
                </a:solidFill>
              </a:rPr>
              <a:t>Objectives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D051319-6398-5AE6-1232-B071E8E71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843892"/>
              </p:ext>
            </p:extLst>
          </p:nvPr>
        </p:nvGraphicFramePr>
        <p:xfrm>
          <a:off x="6187440" y="1962785"/>
          <a:ext cx="6869997" cy="403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727DAE68-50ED-4117-FA4E-93A98BBB6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879897"/>
              </p:ext>
            </p:extLst>
          </p:nvPr>
        </p:nvGraphicFramePr>
        <p:xfrm>
          <a:off x="389304" y="1254899"/>
          <a:ext cx="6605856" cy="505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3F91904-DDD7-4A2A-EDE7-A26ECB60F5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9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F8DB2-35C3-35B5-129F-3948DC6E63C9}"/>
              </a:ext>
            </a:extLst>
          </p:cNvPr>
          <p:cNvSpPr txBox="1"/>
          <p:nvPr/>
        </p:nvSpPr>
        <p:spPr>
          <a:xfrm>
            <a:off x="674370" y="577599"/>
            <a:ext cx="9643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>
                <a:solidFill>
                  <a:srgbClr val="002060"/>
                </a:solidFill>
              </a:rPr>
              <a:t>Literature Review</a:t>
            </a:r>
            <a:endParaRPr lang="en-IN" sz="4000" b="1" u="sng" dirty="0">
              <a:solidFill>
                <a:srgbClr val="00206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EAB746-E4AB-6027-E77F-DF0CFAD22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14807"/>
              </p:ext>
            </p:extLst>
          </p:nvPr>
        </p:nvGraphicFramePr>
        <p:xfrm>
          <a:off x="674370" y="1588770"/>
          <a:ext cx="11201398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424">
                  <a:extLst>
                    <a:ext uri="{9D8B030D-6E8A-4147-A177-3AD203B41FA5}">
                      <a16:colId xmlns:a16="http://schemas.microsoft.com/office/drawing/2014/main" val="113769734"/>
                    </a:ext>
                  </a:extLst>
                </a:gridCol>
                <a:gridCol w="989506">
                  <a:extLst>
                    <a:ext uri="{9D8B030D-6E8A-4147-A177-3AD203B41FA5}">
                      <a16:colId xmlns:a16="http://schemas.microsoft.com/office/drawing/2014/main" val="2413984850"/>
                    </a:ext>
                  </a:extLst>
                </a:gridCol>
                <a:gridCol w="2421300">
                  <a:extLst>
                    <a:ext uri="{9D8B030D-6E8A-4147-A177-3AD203B41FA5}">
                      <a16:colId xmlns:a16="http://schemas.microsoft.com/office/drawing/2014/main" val="831130795"/>
                    </a:ext>
                  </a:extLst>
                </a:gridCol>
                <a:gridCol w="1937958">
                  <a:extLst>
                    <a:ext uri="{9D8B030D-6E8A-4147-A177-3AD203B41FA5}">
                      <a16:colId xmlns:a16="http://schemas.microsoft.com/office/drawing/2014/main" val="2987634376"/>
                    </a:ext>
                  </a:extLst>
                </a:gridCol>
                <a:gridCol w="2645313">
                  <a:extLst>
                    <a:ext uri="{9D8B030D-6E8A-4147-A177-3AD203B41FA5}">
                      <a16:colId xmlns:a16="http://schemas.microsoft.com/office/drawing/2014/main" val="961283435"/>
                    </a:ext>
                  </a:extLst>
                </a:gridCol>
                <a:gridCol w="2470897">
                  <a:extLst>
                    <a:ext uri="{9D8B030D-6E8A-4147-A177-3AD203B41FA5}">
                      <a16:colId xmlns:a16="http://schemas.microsoft.com/office/drawing/2014/main" val="915377482"/>
                    </a:ext>
                  </a:extLst>
                </a:gridCol>
              </a:tblGrid>
              <a:tr h="624117">
                <a:tc>
                  <a:txBody>
                    <a:bodyPr/>
                    <a:lstStyle/>
                    <a:p>
                      <a:r>
                        <a:rPr lang="en-IN" sz="2100"/>
                        <a:t>Ref No.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Year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Authors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Paper 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Research</a:t>
                      </a:r>
                      <a:endParaRPr lang="en-IN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/>
                        <a:t>Gaps</a:t>
                      </a:r>
                      <a:endParaRPr lang="en-IN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727786"/>
                  </a:ext>
                </a:extLst>
              </a:tr>
              <a:tr h="3042570">
                <a:tc>
                  <a:txBody>
                    <a:bodyPr/>
                    <a:lstStyle/>
                    <a:p>
                      <a:r>
                        <a:rPr lang="en-IN" sz="1900"/>
                        <a:t>[1]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2024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 Sharma, P. Rattan 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Rainfall Prediction using </a:t>
                      </a:r>
                      <a:r>
                        <a:rPr lang="en-IN" sz="19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and XGBoost</a:t>
                      </a: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 comparative study 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</a:t>
                      </a:r>
                      <a:r>
                        <a:rPr lang="en-IN" sz="19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(RF)</a:t>
                      </a: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IN" sz="19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using a 10-year NASA dataset (2012–2022) for the Jammu Region. </a:t>
                      </a:r>
                    </a:p>
                    <a:p>
                      <a:endParaRPr lang="en-IN" sz="19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 performed slightly better on test data with a lower </a:t>
                      </a:r>
                      <a:r>
                        <a:rPr lang="en-IN" sz="19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 (3.799)</a:t>
                      </a: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Significant </a:t>
                      </a:r>
                      <a:r>
                        <a:rPr lang="en-IN" sz="19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overfitting</a:t>
                      </a:r>
                      <a:r>
                        <a:rPr lang="en-IN" sz="1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noted (large gap between training and validation error).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72279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1213012-92B8-9C6B-2807-9A1D5191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6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A7F91C-0050-858B-4D51-02AA5E576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690798"/>
                  </p:ext>
                </p:extLst>
              </p:nvPr>
            </p:nvGraphicFramePr>
            <p:xfrm>
              <a:off x="335281" y="560070"/>
              <a:ext cx="11521438" cy="5507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465">
                      <a:extLst>
                        <a:ext uri="{9D8B030D-6E8A-4147-A177-3AD203B41FA5}">
                          <a16:colId xmlns:a16="http://schemas.microsoft.com/office/drawing/2014/main" val="113769734"/>
                        </a:ext>
                      </a:extLst>
                    </a:gridCol>
                    <a:gridCol w="1017778">
                      <a:extLst>
                        <a:ext uri="{9D8B030D-6E8A-4147-A177-3AD203B41FA5}">
                          <a16:colId xmlns:a16="http://schemas.microsoft.com/office/drawing/2014/main" val="2413984850"/>
                        </a:ext>
                      </a:extLst>
                    </a:gridCol>
                    <a:gridCol w="2490480">
                      <a:extLst>
                        <a:ext uri="{9D8B030D-6E8A-4147-A177-3AD203B41FA5}">
                          <a16:colId xmlns:a16="http://schemas.microsoft.com/office/drawing/2014/main" val="831130795"/>
                        </a:ext>
                      </a:extLst>
                    </a:gridCol>
                    <a:gridCol w="1993328">
                      <a:extLst>
                        <a:ext uri="{9D8B030D-6E8A-4147-A177-3AD203B41FA5}">
                          <a16:colId xmlns:a16="http://schemas.microsoft.com/office/drawing/2014/main" val="2987634376"/>
                        </a:ext>
                      </a:extLst>
                    </a:gridCol>
                    <a:gridCol w="2720893">
                      <a:extLst>
                        <a:ext uri="{9D8B030D-6E8A-4147-A177-3AD203B41FA5}">
                          <a16:colId xmlns:a16="http://schemas.microsoft.com/office/drawing/2014/main" val="961283435"/>
                        </a:ext>
                      </a:extLst>
                    </a:gridCol>
                    <a:gridCol w="2541494">
                      <a:extLst>
                        <a:ext uri="{9D8B030D-6E8A-4147-A177-3AD203B41FA5}">
                          <a16:colId xmlns:a16="http://schemas.microsoft.com/office/drawing/2014/main" val="915377482"/>
                        </a:ext>
                      </a:extLst>
                    </a:gridCol>
                  </a:tblGrid>
                  <a:tr h="598547"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Ref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Authors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Paper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Research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Gaps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727786"/>
                      </a:ext>
                    </a:extLst>
                  </a:tr>
                  <a:tr h="2489504"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[2]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2024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Jagadeshwari </a:t>
                          </a:r>
                          <a:r>
                            <a:rPr lang="en-IN" sz="1900" dirty="0" err="1"/>
                            <a:t>Puttanapura</a:t>
                          </a:r>
                          <a:r>
                            <a:rPr lang="en-IN" sz="1900" dirty="0"/>
                            <a:t>, Monika Singh, </a:t>
                          </a:r>
                          <a:r>
                            <a:rPr lang="en-IN" sz="1900" dirty="0" err="1"/>
                            <a:t>C.K.K</a:t>
                          </a:r>
                          <a:r>
                            <a:rPr lang="en-IN" sz="1900" dirty="0"/>
                            <a:t> Reddy, Srinath Doss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Improvised Prediction of Rainfall using Random Forest Classifier Over Taiwan</a:t>
                          </a:r>
                          <a:endParaRPr lang="en-IN" sz="1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Evaluated 9 ML/DL algorithms (including LSTM, </a:t>
                          </a:r>
                          <a:r>
                            <a:rPr lang="en-IN" sz="19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SVM</a:t>
                          </a: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ANN) on a 20-year weather dataset for Taiwan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IN" sz="19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19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Random Forest</a:t>
                          </a: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outperformed others</a:t>
                          </a:r>
                          <a:endParaRPr lang="en-IN" sz="1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Evaluated rainfall only as a </a:t>
                          </a:r>
                          <a:r>
                            <a:rPr lang="en-IN" sz="19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binary/multi-class classification</a:t>
                          </a: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target rather than predicting exact quantitative volume (</a:t>
                          </a:r>
                          <a14:m>
                            <m:oMath xmlns:m="http://schemas.openxmlformats.org/officeDocument/2006/math">
                              <m:r>
                                <a:rPr lang="en-IN" sz="19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𝑚𝑚</m:t>
                              </m:r>
                              <m:r>
                                <a:rPr lang="en-IN" sz="19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en-IN" sz="19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h𝑟</m:t>
                              </m:r>
                            </m:oMath>
                          </a14:m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).</a:t>
                          </a:r>
                          <a:endParaRPr lang="en-IN" sz="1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5722792"/>
                      </a:ext>
                    </a:extLst>
                  </a:tr>
                  <a:tr h="2094916">
                    <a:tc>
                      <a:txBody>
                        <a:bodyPr/>
                        <a:lstStyle/>
                        <a:p>
                          <a:r>
                            <a:rPr lang="en-IN" sz="2200" dirty="0"/>
                            <a:t>[3]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200" dirty="0"/>
                            <a:t>2025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A. Jain, G. Sharma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Enhancing Weather Prediction Accuracy with Gradient Boosting: A Machine Learning Approach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Compared 6 classifiers (KNN, </a:t>
                          </a:r>
                          <a:r>
                            <a:rPr lang="en-IN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SVM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Naive Bayes, Decision Tree, Gradient Boosting, </a:t>
                          </a:r>
                          <a:r>
                            <a:rPr lang="en-IN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XGBoost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 on a Seattle dataset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b="1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XGBoost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reached </a:t>
                          </a:r>
                          <a:r>
                            <a:rPr lang="en-IN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87.90% accuracy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Highly dependent on a single regional dataset, restricting model generalizability to highly volatile monsoon zones like India</a:t>
                          </a:r>
                          <a:endParaRPr lang="en-IN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80278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A7F91C-0050-858B-4D51-02AA5E5766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690798"/>
                  </p:ext>
                </p:extLst>
              </p:nvPr>
            </p:nvGraphicFramePr>
            <p:xfrm>
              <a:off x="335281" y="560070"/>
              <a:ext cx="11521438" cy="55070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7465">
                      <a:extLst>
                        <a:ext uri="{9D8B030D-6E8A-4147-A177-3AD203B41FA5}">
                          <a16:colId xmlns:a16="http://schemas.microsoft.com/office/drawing/2014/main" val="113769734"/>
                        </a:ext>
                      </a:extLst>
                    </a:gridCol>
                    <a:gridCol w="1017778">
                      <a:extLst>
                        <a:ext uri="{9D8B030D-6E8A-4147-A177-3AD203B41FA5}">
                          <a16:colId xmlns:a16="http://schemas.microsoft.com/office/drawing/2014/main" val="2413984850"/>
                        </a:ext>
                      </a:extLst>
                    </a:gridCol>
                    <a:gridCol w="2490480">
                      <a:extLst>
                        <a:ext uri="{9D8B030D-6E8A-4147-A177-3AD203B41FA5}">
                          <a16:colId xmlns:a16="http://schemas.microsoft.com/office/drawing/2014/main" val="831130795"/>
                        </a:ext>
                      </a:extLst>
                    </a:gridCol>
                    <a:gridCol w="1993328">
                      <a:extLst>
                        <a:ext uri="{9D8B030D-6E8A-4147-A177-3AD203B41FA5}">
                          <a16:colId xmlns:a16="http://schemas.microsoft.com/office/drawing/2014/main" val="2987634376"/>
                        </a:ext>
                      </a:extLst>
                    </a:gridCol>
                    <a:gridCol w="2720893">
                      <a:extLst>
                        <a:ext uri="{9D8B030D-6E8A-4147-A177-3AD203B41FA5}">
                          <a16:colId xmlns:a16="http://schemas.microsoft.com/office/drawing/2014/main" val="961283435"/>
                        </a:ext>
                      </a:extLst>
                    </a:gridCol>
                    <a:gridCol w="2541494">
                      <a:extLst>
                        <a:ext uri="{9D8B030D-6E8A-4147-A177-3AD203B41FA5}">
                          <a16:colId xmlns:a16="http://schemas.microsoft.com/office/drawing/2014/main" val="915377482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Ref No.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Authors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Paper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Research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100" dirty="0"/>
                            <a:t>Gaps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727786"/>
                      </a:ext>
                    </a:extLst>
                  </a:tr>
                  <a:tr h="2489504"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[2]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2024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dirty="0"/>
                            <a:t>Jagadeshwari </a:t>
                          </a:r>
                          <a:r>
                            <a:rPr lang="en-IN" sz="1900" dirty="0" err="1"/>
                            <a:t>Puttanapura</a:t>
                          </a:r>
                          <a:r>
                            <a:rPr lang="en-IN" sz="1900" dirty="0"/>
                            <a:t>, Monika Singh, </a:t>
                          </a:r>
                          <a:r>
                            <a:rPr lang="en-IN" sz="1900" dirty="0" err="1"/>
                            <a:t>C.K.K</a:t>
                          </a:r>
                          <a:r>
                            <a:rPr lang="en-IN" sz="1900" dirty="0"/>
                            <a:t> Reddy, Srinath Doss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Improvised Prediction of Rainfall using Random Forest Classifier Over Taiwan</a:t>
                          </a:r>
                          <a:endParaRPr lang="en-IN" sz="1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Evaluated 9 ML/DL algorithms (including LSTM, </a:t>
                          </a:r>
                          <a:r>
                            <a:rPr lang="en-IN" sz="19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SVM</a:t>
                          </a: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ANN) on a 20-year weather dataset for Taiwan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IN" sz="19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19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Random Forest</a:t>
                          </a:r>
                          <a:r>
                            <a:rPr lang="en-IN" sz="19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outperformed others</a:t>
                          </a:r>
                          <a:endParaRPr lang="en-IN" sz="1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3717" t="-30807" r="-1199" b="-955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572279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IN" sz="2200" dirty="0"/>
                            <a:t>[3]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2200" dirty="0"/>
                            <a:t>2025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A. Jain, G. Sharma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Enhancing Weather Prediction Accuracy with Gradient Boosting: A Machine Learning Approach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Compared 6 classifiers (KNN, </a:t>
                          </a:r>
                          <a:r>
                            <a:rPr lang="en-IN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SVM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Naive Bayes, Decision Tree, Gradient Boosting, </a:t>
                          </a:r>
                          <a:r>
                            <a:rPr lang="en-IN" sz="180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XGBoost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 on a Seattle dataset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b="1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XGBoost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reached </a:t>
                          </a:r>
                          <a:r>
                            <a:rPr lang="en-IN" sz="18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87.90% accuracy</a:t>
                          </a: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n-IN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Highly dependent on a single regional dataset, restricting model generalizability to highly volatile monsoon zones like India</a:t>
                          </a:r>
                          <a:endParaRPr lang="en-IN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80278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8DB648B-251F-0F98-7409-C15E69BF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8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5EB760-5FB9-4799-A88F-3E0C4B49C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59313"/>
              </p:ext>
            </p:extLst>
          </p:nvPr>
        </p:nvGraphicFramePr>
        <p:xfrm>
          <a:off x="335281" y="514351"/>
          <a:ext cx="11521438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465">
                  <a:extLst>
                    <a:ext uri="{9D8B030D-6E8A-4147-A177-3AD203B41FA5}">
                      <a16:colId xmlns:a16="http://schemas.microsoft.com/office/drawing/2014/main" val="113769734"/>
                    </a:ext>
                  </a:extLst>
                </a:gridCol>
                <a:gridCol w="1017778">
                  <a:extLst>
                    <a:ext uri="{9D8B030D-6E8A-4147-A177-3AD203B41FA5}">
                      <a16:colId xmlns:a16="http://schemas.microsoft.com/office/drawing/2014/main" val="2413984850"/>
                    </a:ext>
                  </a:extLst>
                </a:gridCol>
                <a:gridCol w="2490480">
                  <a:extLst>
                    <a:ext uri="{9D8B030D-6E8A-4147-A177-3AD203B41FA5}">
                      <a16:colId xmlns:a16="http://schemas.microsoft.com/office/drawing/2014/main" val="831130795"/>
                    </a:ext>
                  </a:extLst>
                </a:gridCol>
                <a:gridCol w="1993328">
                  <a:extLst>
                    <a:ext uri="{9D8B030D-6E8A-4147-A177-3AD203B41FA5}">
                      <a16:colId xmlns:a16="http://schemas.microsoft.com/office/drawing/2014/main" val="2987634376"/>
                    </a:ext>
                  </a:extLst>
                </a:gridCol>
                <a:gridCol w="2720893">
                  <a:extLst>
                    <a:ext uri="{9D8B030D-6E8A-4147-A177-3AD203B41FA5}">
                      <a16:colId xmlns:a16="http://schemas.microsoft.com/office/drawing/2014/main" val="961283435"/>
                    </a:ext>
                  </a:extLst>
                </a:gridCol>
                <a:gridCol w="2541494">
                  <a:extLst>
                    <a:ext uri="{9D8B030D-6E8A-4147-A177-3AD203B41FA5}">
                      <a16:colId xmlns:a16="http://schemas.microsoft.com/office/drawing/2014/main" val="915377482"/>
                    </a:ext>
                  </a:extLst>
                </a:gridCol>
              </a:tblGrid>
              <a:tr h="680037">
                <a:tc>
                  <a:txBody>
                    <a:bodyPr/>
                    <a:lstStyle/>
                    <a:p>
                      <a:r>
                        <a:rPr lang="en-IN" sz="2100"/>
                        <a:t>Ref </a:t>
                      </a:r>
                      <a:r>
                        <a:rPr lang="en-IN" sz="21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100" dirty="0"/>
                        <a:t>Gaps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727786"/>
                  </a:ext>
                </a:extLst>
              </a:tr>
              <a:tr h="3078453">
                <a:tc>
                  <a:txBody>
                    <a:bodyPr/>
                    <a:lstStyle/>
                    <a:p>
                      <a:r>
                        <a:rPr lang="en-IN" sz="1900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P. Sahu, S. Kumar, R. K. Yadav, et al.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Explainable AI-Powered and Machine Learning Approach for Heavy Rainfall Prediction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Developed a hybrid </a:t>
                      </a:r>
                      <a:r>
                        <a:rPr lang="en-IN" sz="2000" b="1" dirty="0"/>
                        <a:t>Voting Classifier Ensemble</a:t>
                      </a:r>
                      <a:r>
                        <a:rPr lang="en-IN" sz="2000" dirty="0"/>
                        <a:t> </a:t>
                      </a:r>
                      <a:endParaRPr lang="en-IN" sz="1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000" dirty="0"/>
                        <a:t>Used </a:t>
                      </a:r>
                      <a:r>
                        <a:rPr lang="en-IN" sz="2000" b="1" dirty="0"/>
                        <a:t>SHAP</a:t>
                      </a:r>
                      <a:r>
                        <a:rPr lang="en-IN" sz="2000" dirty="0"/>
                        <a:t> and </a:t>
                      </a:r>
                      <a:r>
                        <a:rPr lang="en-IN" sz="2000" b="1" dirty="0"/>
                        <a:t>LIME</a:t>
                      </a:r>
                      <a:r>
                        <a:rPr lang="en-IN" sz="2000" dirty="0"/>
                        <a:t> for model transparency and feature importance tracking.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/>
                        <a:t>Complex ensemble approach requires </a:t>
                      </a:r>
                      <a:r>
                        <a:rPr lang="en-IN" sz="2000" b="1" dirty="0"/>
                        <a:t>high computational footprint</a:t>
                      </a:r>
                      <a:r>
                        <a:rPr lang="en-IN" sz="2000" dirty="0"/>
                        <a:t> and lacks </a:t>
                      </a:r>
                      <a:r>
                        <a:rPr lang="en-IN" sz="2000" b="1" dirty="0"/>
                        <a:t>real-time sequential multi-step timeline adjustments</a:t>
                      </a:r>
                      <a:r>
                        <a:rPr lang="en-IN" sz="2000" dirty="0"/>
                        <a:t>.</a:t>
                      </a:r>
                      <a:endParaRPr lang="en-IN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722792"/>
                  </a:ext>
                </a:extLst>
              </a:tr>
              <a:tr h="1876500">
                <a:tc>
                  <a:txBody>
                    <a:bodyPr/>
                    <a:lstStyle/>
                    <a:p>
                      <a:r>
                        <a:rPr lang="en-IN" sz="2200" dirty="0"/>
                        <a:t>[5]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 P. S. Ibrahim, N. V. Harika, et al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Application of Machine Learning and Data Mining Techniques for Accurate Cloud Burst Prediction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Utilized </a:t>
                      </a:r>
                      <a:r>
                        <a:rPr lang="en-IN" b="1" dirty="0"/>
                        <a:t>Fuzzy Association Rule Mining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Handled severe class imbalances to achieve a baseline </a:t>
                      </a:r>
                      <a:r>
                        <a:rPr lang="en-IN" sz="1800" b="1" dirty="0"/>
                        <a:t>94% accuracy</a:t>
                      </a:r>
                      <a:r>
                        <a:rPr lang="en-IN" sz="1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The data mining rules struggle when handling datasets with significantly high spatial or temporal density variances. 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78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9F42C1-84F7-D52B-05A6-14EE2790EAAF}"/>
              </a:ext>
            </a:extLst>
          </p:cNvPr>
          <p:cNvSpPr txBox="1"/>
          <p:nvPr/>
        </p:nvSpPr>
        <p:spPr>
          <a:xfrm>
            <a:off x="5669280" y="6396991"/>
            <a:ext cx="1725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Table-1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5A95D-90A0-B508-A916-7558F73C9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7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DFE1A2C-D14F-61D8-B267-59803246BDC5}"/>
              </a:ext>
            </a:extLst>
          </p:cNvPr>
          <p:cNvSpPr txBox="1"/>
          <p:nvPr/>
        </p:nvSpPr>
        <p:spPr>
          <a:xfrm>
            <a:off x="8013081" y="6369171"/>
            <a:ext cx="226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Figure-1</a:t>
            </a:r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DEC79-9DAD-0A4E-3C84-3FF463F5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7" y="-2"/>
            <a:ext cx="911669" cy="915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EF0744-0AB0-6DB3-212B-77B40E104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510363"/>
            <a:ext cx="10287000" cy="57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9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3A0E3-4CC4-7419-9D52-388F79AB59B1}"/>
              </a:ext>
            </a:extLst>
          </p:cNvPr>
          <p:cNvSpPr txBox="1"/>
          <p:nvPr/>
        </p:nvSpPr>
        <p:spPr>
          <a:xfrm>
            <a:off x="478724" y="445176"/>
            <a:ext cx="493776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u="sng" dirty="0">
                <a:solidFill>
                  <a:srgbClr val="002060"/>
                </a:solidFill>
              </a:rPr>
              <a:t>Block Diagram</a:t>
            </a:r>
            <a:r>
              <a:rPr lang="en-IN" sz="4000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84085-B3F1-D767-9C16-AFBEAA06BC9E}"/>
              </a:ext>
            </a:extLst>
          </p:cNvPr>
          <p:cNvSpPr txBox="1"/>
          <p:nvPr/>
        </p:nvSpPr>
        <p:spPr>
          <a:xfrm>
            <a:off x="5563171" y="5842960"/>
            <a:ext cx="226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Figure-2 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31EDA-21C8-3827-3D49-53347DBF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C796FE6-3608-EF24-8D71-03B409E57937}"/>
                  </a:ext>
                </a:extLst>
              </p14:cNvPr>
              <p14:cNvContentPartPr/>
              <p14:nvPr/>
            </p14:nvContentPartPr>
            <p14:xfrm>
              <a:off x="8909883" y="2881289"/>
              <a:ext cx="340560" cy="11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C796FE6-3608-EF24-8D71-03B409E579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47243" y="2818289"/>
                <a:ext cx="4662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7760DF-8B0A-0958-9F81-AEB3070ABA05}"/>
                  </a:ext>
                </a:extLst>
              </p14:cNvPr>
              <p14:cNvContentPartPr/>
              <p14:nvPr/>
            </p14:nvContentPartPr>
            <p14:xfrm>
              <a:off x="8899083" y="3593729"/>
              <a:ext cx="447120" cy="21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7760DF-8B0A-0958-9F81-AEB3070ABA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36443" y="3530729"/>
                <a:ext cx="572760" cy="14688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F5F24BF-9CEF-F3B7-9D9D-B5D4BCB460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66" y="1073888"/>
            <a:ext cx="11512868" cy="476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0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EF91B1-CFE7-770D-CEB4-2488F4970432}"/>
              </a:ext>
            </a:extLst>
          </p:cNvPr>
          <p:cNvSpPr txBox="1"/>
          <p:nvPr/>
        </p:nvSpPr>
        <p:spPr>
          <a:xfrm>
            <a:off x="422910" y="572618"/>
            <a:ext cx="7520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Hardware &amp; Software Details</a:t>
            </a:r>
            <a:endParaRPr lang="en-IN" sz="4000" b="1" u="sng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C30A8B3-9554-E49A-1D25-8BAB512BF5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318132"/>
              </p:ext>
            </p:extLst>
          </p:nvPr>
        </p:nvGraphicFramePr>
        <p:xfrm>
          <a:off x="214972" y="1154430"/>
          <a:ext cx="4299878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CC260DE-B8D7-B301-951C-023D016B0928}"/>
              </a:ext>
            </a:extLst>
          </p:cNvPr>
          <p:cNvSpPr/>
          <p:nvPr/>
        </p:nvSpPr>
        <p:spPr>
          <a:xfrm>
            <a:off x="5463540" y="1725930"/>
            <a:ext cx="6103620" cy="4524315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IN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C409020-4642-8319-E922-8225219373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085744"/>
              </p:ext>
            </p:extLst>
          </p:nvPr>
        </p:nvGraphicFramePr>
        <p:xfrm>
          <a:off x="7018020" y="640080"/>
          <a:ext cx="5326380" cy="5200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438108-45FB-3819-765E-C88C3A7C0319}"/>
              </a:ext>
            </a:extLst>
          </p:cNvPr>
          <p:cNvSpPr/>
          <p:nvPr/>
        </p:nvSpPr>
        <p:spPr>
          <a:xfrm>
            <a:off x="1543050" y="3270886"/>
            <a:ext cx="3131820" cy="291077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/>
              <a:t>Output ML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Trained Classification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Trained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Metadata and optimized threshold values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D80E1-6F8B-9304-F222-B4424C3179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5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C4F968-7218-5AB9-E37D-DA022CB740CF}"/>
              </a:ext>
            </a:extLst>
          </p:cNvPr>
          <p:cNvSpPr txBox="1"/>
          <p:nvPr/>
        </p:nvSpPr>
        <p:spPr>
          <a:xfrm>
            <a:off x="397192" y="549861"/>
            <a:ext cx="7889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Explanation of the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4AE12-58A5-7486-AB68-7087B49C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528" y="-4021"/>
            <a:ext cx="1368654" cy="13641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A5D469-69CC-DB94-C067-7028A9C59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CE44E-A3B2-8772-40BF-110BA1BCD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246" y="7410"/>
            <a:ext cx="911669" cy="9150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FF3E6F-66AD-FA5D-F58C-5BBEC06217E5}"/>
                  </a:ext>
                </a:extLst>
              </p14:cNvPr>
              <p14:cNvContentPartPr/>
              <p14:nvPr/>
            </p14:nvContentPartPr>
            <p14:xfrm>
              <a:off x="2943189" y="2487002"/>
              <a:ext cx="24480" cy="100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FF3E6F-66AD-FA5D-F58C-5BBEC06217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0549" y="2424362"/>
                <a:ext cx="1501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BB5F97-A11F-4283-1007-BE0C9FAB64D3}"/>
                  </a:ext>
                </a:extLst>
              </p14:cNvPr>
              <p14:cNvContentPartPr/>
              <p14:nvPr/>
            </p14:nvContentPartPr>
            <p14:xfrm>
              <a:off x="3006549" y="2541722"/>
              <a:ext cx="1379520" cy="23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BB5F97-A11F-4283-1007-BE0C9FAB64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43909" y="2478722"/>
                <a:ext cx="15051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8DB6EC-0239-C46C-7F69-CF6E20E7D762}"/>
                  </a:ext>
                </a:extLst>
              </p14:cNvPr>
              <p14:cNvContentPartPr/>
              <p14:nvPr/>
            </p14:nvContentPartPr>
            <p14:xfrm>
              <a:off x="8437400" y="2986640"/>
              <a:ext cx="981360" cy="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8DB6EC-0239-C46C-7F69-CF6E20E7D7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4400" y="2860640"/>
                <a:ext cx="110700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496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61BD37-E38F-0804-1588-66E2095D9787}"/>
              </a:ext>
            </a:extLst>
          </p:cNvPr>
          <p:cNvSpPr txBox="1"/>
          <p:nvPr/>
        </p:nvSpPr>
        <p:spPr>
          <a:xfrm>
            <a:off x="397192" y="549861"/>
            <a:ext cx="7889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Pictures of the Prototype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945444-C8B1-66D2-D8AC-BD67E5C3E9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06" y="1485900"/>
            <a:ext cx="5805184" cy="370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44CAD6-F175-0615-0182-F0BCF52DBF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1" y="1485900"/>
            <a:ext cx="5566410" cy="37033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9DAB0E-B272-EBA0-3FEF-1B4AE39E9E2D}"/>
              </a:ext>
            </a:extLst>
          </p:cNvPr>
          <p:cNvSpPr txBox="1"/>
          <p:nvPr/>
        </p:nvSpPr>
        <p:spPr>
          <a:xfrm>
            <a:off x="2293767" y="5334001"/>
            <a:ext cx="226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Figure-3 Web Dashboard 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92816-2470-795F-C108-C90A98A25E52}"/>
              </a:ext>
            </a:extLst>
          </p:cNvPr>
          <p:cNvSpPr txBox="1"/>
          <p:nvPr/>
        </p:nvSpPr>
        <p:spPr>
          <a:xfrm>
            <a:off x="8341027" y="5292091"/>
            <a:ext cx="3132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Figure-4 ML-Model Vs Open </a:t>
            </a:r>
            <a:r>
              <a:rPr lang="en-US" sz="1400" dirty="0" err="1"/>
              <a:t>Meteo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23FA6-0912-3453-000B-C033FBC29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7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8B7C6E-0B7E-A657-2E33-C5BB1F7142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" y="1360170"/>
            <a:ext cx="5253038" cy="3554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2E29D2-EEEA-F46D-D868-60272E0C65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820" y="1360170"/>
            <a:ext cx="5143501" cy="3554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3AEB1-EE85-14BB-C261-9DFDABC9E5C1}"/>
              </a:ext>
            </a:extLst>
          </p:cNvPr>
          <p:cNvSpPr txBox="1"/>
          <p:nvPr/>
        </p:nvSpPr>
        <p:spPr>
          <a:xfrm>
            <a:off x="1957338" y="5082541"/>
            <a:ext cx="281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Figure-5 Hardware Sensor Reading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0A029-2A04-1D80-6745-0DB7548A99DA}"/>
              </a:ext>
            </a:extLst>
          </p:cNvPr>
          <p:cNvSpPr txBox="1"/>
          <p:nvPr/>
        </p:nvSpPr>
        <p:spPr>
          <a:xfrm>
            <a:off x="7680161" y="5082540"/>
            <a:ext cx="2931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Figure-6 Hardware (</a:t>
            </a:r>
            <a:r>
              <a:rPr lang="en-US" sz="1200" dirty="0" err="1"/>
              <a:t>ESP8266</a:t>
            </a:r>
            <a:r>
              <a:rPr lang="en-US" sz="1200" dirty="0"/>
              <a:t> &amp;</a:t>
            </a:r>
            <a:r>
              <a:rPr lang="en-US" sz="1200" dirty="0" err="1"/>
              <a:t>SHT30</a:t>
            </a:r>
            <a:r>
              <a:rPr lang="en-US" sz="1200" dirty="0"/>
              <a:t>)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15F11-4E9E-BC06-6E09-DEAB34B1B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0AB6C1-13AB-6169-2FE1-E6448213280C}"/>
              </a:ext>
            </a:extLst>
          </p:cNvPr>
          <p:cNvSpPr txBox="1"/>
          <p:nvPr/>
        </p:nvSpPr>
        <p:spPr>
          <a:xfrm>
            <a:off x="500062" y="446544"/>
            <a:ext cx="83238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</a:rPr>
              <a:t>E</a:t>
            </a:r>
            <a:r>
              <a:rPr lang="en-IN" sz="4000" b="1" u="sng" dirty="0" err="1">
                <a:solidFill>
                  <a:srgbClr val="002060"/>
                </a:solidFill>
              </a:rPr>
              <a:t>xperimental</a:t>
            </a:r>
            <a:r>
              <a:rPr lang="en-IN" sz="4000" b="1" u="sng" dirty="0">
                <a:solidFill>
                  <a:srgbClr val="002060"/>
                </a:solidFill>
              </a:rPr>
              <a:t> Result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59658-5269-2494-69A2-FBDB27A360D3}"/>
              </a:ext>
            </a:extLst>
          </p:cNvPr>
          <p:cNvSpPr txBox="1"/>
          <p:nvPr/>
        </p:nvSpPr>
        <p:spPr>
          <a:xfrm>
            <a:off x="3414091" y="6118013"/>
            <a:ext cx="4375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Figure-8 Full ML predication of 2025 Unseen Test data</a:t>
            </a:r>
            <a:endParaRPr lang="en-IN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6E520-251A-98CD-9AF1-1DB1ED187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576481-3126-F052-4AFB-510B9E900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" y="3511063"/>
            <a:ext cx="9143668" cy="251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65143-7A6C-B589-43F1-B6CEEB85B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09" y="1006573"/>
            <a:ext cx="9143668" cy="2178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ECA22E-299D-C1DA-FDD2-87E8E5704014}"/>
              </a:ext>
            </a:extLst>
          </p:cNvPr>
          <p:cNvSpPr txBox="1"/>
          <p:nvPr/>
        </p:nvSpPr>
        <p:spPr>
          <a:xfrm>
            <a:off x="3644684" y="3234064"/>
            <a:ext cx="4467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Figure-7 Stage 1 Classifier Probability Threshold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6750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B373-9A01-EDEF-F97C-DC33EAC2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82" y="528385"/>
            <a:ext cx="8655183" cy="2581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7BF745-9C88-DE2C-F660-BB76EAEA5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81" y="3415658"/>
            <a:ext cx="8655183" cy="2581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8B4BBF-4100-0713-AD07-6E479065CA77}"/>
              </a:ext>
            </a:extLst>
          </p:cNvPr>
          <p:cNvSpPr txBox="1"/>
          <p:nvPr/>
        </p:nvSpPr>
        <p:spPr>
          <a:xfrm>
            <a:off x="3385963" y="3116259"/>
            <a:ext cx="3048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Figure-9 Actual Vs Predicated Scatter Plot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618A1-6F3B-7019-92C4-E87BE484AE45}"/>
              </a:ext>
            </a:extLst>
          </p:cNvPr>
          <p:cNvSpPr txBox="1"/>
          <p:nvPr/>
        </p:nvSpPr>
        <p:spPr>
          <a:xfrm>
            <a:off x="3385963" y="6061484"/>
            <a:ext cx="3048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Figure-10 Monthly Accuracy Histogram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931042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15FFE-0329-0EFE-639F-908145DEF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20" y="792677"/>
            <a:ext cx="11032021" cy="4717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2FFE8-9FE2-50C3-FBC2-083F89C30947}"/>
              </a:ext>
            </a:extLst>
          </p:cNvPr>
          <p:cNvSpPr txBox="1"/>
          <p:nvPr/>
        </p:nvSpPr>
        <p:spPr>
          <a:xfrm>
            <a:off x="4671853" y="5608321"/>
            <a:ext cx="3514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Figure-11 Hardware Statistical Performances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2AC4C-664D-D23A-50C6-77ACC9AD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22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DB5520-7780-CFEA-070F-844DA62D5208}"/>
              </a:ext>
            </a:extLst>
          </p:cNvPr>
          <p:cNvSpPr txBox="1"/>
          <p:nvPr/>
        </p:nvSpPr>
        <p:spPr>
          <a:xfrm>
            <a:off x="502288" y="384340"/>
            <a:ext cx="98750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Analysis &amp; Discussion of the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D4C6B2-5671-7E0C-2B40-B7E961BAF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64474"/>
              </p:ext>
            </p:extLst>
          </p:nvPr>
        </p:nvGraphicFramePr>
        <p:xfrm>
          <a:off x="6229556" y="2136637"/>
          <a:ext cx="5569527" cy="2868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509">
                  <a:extLst>
                    <a:ext uri="{9D8B030D-6E8A-4147-A177-3AD203B41FA5}">
                      <a16:colId xmlns:a16="http://schemas.microsoft.com/office/drawing/2014/main" val="2640938831"/>
                    </a:ext>
                  </a:extLst>
                </a:gridCol>
                <a:gridCol w="1856509">
                  <a:extLst>
                    <a:ext uri="{9D8B030D-6E8A-4147-A177-3AD203B41FA5}">
                      <a16:colId xmlns:a16="http://schemas.microsoft.com/office/drawing/2014/main" val="501025548"/>
                    </a:ext>
                  </a:extLst>
                </a:gridCol>
                <a:gridCol w="1856509">
                  <a:extLst>
                    <a:ext uri="{9D8B030D-6E8A-4147-A177-3AD203B41FA5}">
                      <a16:colId xmlns:a16="http://schemas.microsoft.com/office/drawing/2014/main" val="2681307163"/>
                    </a:ext>
                  </a:extLst>
                </a:gridCol>
              </a:tblGrid>
              <a:tr h="647823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04262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r>
                        <a:rPr lang="en-US" dirty="0"/>
                        <a:t>Error Rates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MAE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0.2388  mm/</a:t>
                      </a:r>
                      <a:r>
                        <a:rPr lang="en-US" dirty="0" err="1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836531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 err="1"/>
                        <a:t>RMSE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0.8426 mm/</a:t>
                      </a:r>
                      <a:r>
                        <a:rPr lang="en-US" dirty="0" err="1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023724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86.54%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4555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F1</a:t>
                      </a:r>
                      <a:r>
                        <a:rPr lang="en-US" dirty="0"/>
                        <a:t>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082478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Actual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4.20 mm/</a:t>
                      </a:r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431192"/>
                  </a:ext>
                </a:extLst>
              </a:tr>
              <a:tr h="37018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Predicted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 mm/</a:t>
                      </a:r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045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3553FF6-2E67-D824-3E2D-2BBFB958B6EA}"/>
              </a:ext>
            </a:extLst>
          </p:cNvPr>
          <p:cNvSpPr txBox="1"/>
          <p:nvPr/>
        </p:nvSpPr>
        <p:spPr>
          <a:xfrm>
            <a:off x="3076651" y="1289217"/>
            <a:ext cx="67432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2060"/>
                </a:solidFill>
              </a:rPr>
              <a:t>ML MODEL STATS (</a:t>
            </a:r>
            <a:r>
              <a:rPr lang="en-IN" sz="2200" dirty="0">
                <a:solidFill>
                  <a:srgbClr val="002060"/>
                </a:solidFill>
              </a:rPr>
              <a:t>predicting</a:t>
            </a:r>
            <a:r>
              <a:rPr lang="en-US" sz="2200" dirty="0">
                <a:solidFill>
                  <a:srgbClr val="002060"/>
                </a:solidFill>
              </a:rPr>
              <a:t> Rainfall intensity) </a:t>
            </a:r>
            <a:endParaRPr lang="en-IN" sz="2200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57C8AB-B894-400C-90B5-15D1E645F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17070"/>
              </p:ext>
            </p:extLst>
          </p:nvPr>
        </p:nvGraphicFramePr>
        <p:xfrm>
          <a:off x="502288" y="2136637"/>
          <a:ext cx="5569527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509">
                  <a:extLst>
                    <a:ext uri="{9D8B030D-6E8A-4147-A177-3AD203B41FA5}">
                      <a16:colId xmlns:a16="http://schemas.microsoft.com/office/drawing/2014/main" val="2640938831"/>
                    </a:ext>
                  </a:extLst>
                </a:gridCol>
                <a:gridCol w="1856509">
                  <a:extLst>
                    <a:ext uri="{9D8B030D-6E8A-4147-A177-3AD203B41FA5}">
                      <a16:colId xmlns:a16="http://schemas.microsoft.com/office/drawing/2014/main" val="501025548"/>
                    </a:ext>
                  </a:extLst>
                </a:gridCol>
                <a:gridCol w="1856509">
                  <a:extLst>
                    <a:ext uri="{9D8B030D-6E8A-4147-A177-3AD203B41FA5}">
                      <a16:colId xmlns:a16="http://schemas.microsoft.com/office/drawing/2014/main" val="2681307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0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 Rates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MAE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0.4170  mm/</a:t>
                      </a:r>
                      <a:r>
                        <a:rPr lang="en-US" dirty="0" err="1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83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 err="1"/>
                        <a:t>RMSE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1.2902 mm/</a:t>
                      </a:r>
                      <a:r>
                        <a:rPr lang="en-US" dirty="0" err="1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02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81.58%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444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F1</a:t>
                      </a:r>
                      <a:r>
                        <a:rPr lang="en-US" dirty="0"/>
                        <a:t>-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84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Actual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4.68 mm/</a:t>
                      </a:r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43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Predicted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 mm/</a:t>
                      </a:r>
                      <a:r>
                        <a:rPr lang="en-US" dirty="0" err="1"/>
                        <a:t>hr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55103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89A9780-EEAC-DC99-EC80-D151E6AF7CCA}"/>
              </a:ext>
            </a:extLst>
          </p:cNvPr>
          <p:cNvSpPr txBox="1"/>
          <p:nvPr/>
        </p:nvSpPr>
        <p:spPr>
          <a:xfrm>
            <a:off x="1802227" y="5197724"/>
            <a:ext cx="464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Table-2 Training Data Stats for the (</a:t>
            </a:r>
            <a:r>
              <a:rPr lang="en-US" sz="1200" dirty="0" err="1"/>
              <a:t>GBM</a:t>
            </a:r>
            <a:r>
              <a:rPr lang="en-US" sz="1200" dirty="0"/>
              <a:t>) ML Model</a:t>
            </a:r>
            <a:endParaRPr lang="en-IN" sz="1200" dirty="0"/>
          </a:p>
          <a:p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08878E-E10B-1533-79E4-8D069F37B37C}"/>
              </a:ext>
            </a:extLst>
          </p:cNvPr>
          <p:cNvSpPr txBox="1"/>
          <p:nvPr/>
        </p:nvSpPr>
        <p:spPr>
          <a:xfrm>
            <a:off x="7730908" y="5197723"/>
            <a:ext cx="4068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Table-3 Testing Stats of the (</a:t>
            </a:r>
            <a:r>
              <a:rPr lang="en-US" sz="1200" dirty="0" err="1"/>
              <a:t>GBM</a:t>
            </a:r>
            <a:r>
              <a:rPr lang="en-US" sz="1200" dirty="0"/>
              <a:t>) trained model</a:t>
            </a:r>
            <a:endParaRPr lang="en-IN" sz="1200" dirty="0"/>
          </a:p>
          <a:p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FA6BE-50D8-A47F-4421-C38B5C47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3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C928D1-9686-4CAF-C1A2-BA695043406D}"/>
              </a:ext>
            </a:extLst>
          </p:cNvPr>
          <p:cNvSpPr txBox="1"/>
          <p:nvPr/>
        </p:nvSpPr>
        <p:spPr>
          <a:xfrm>
            <a:off x="457332" y="678074"/>
            <a:ext cx="7824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2060"/>
                </a:solidFill>
              </a:rPr>
              <a:t>ML MODEL STATS (</a:t>
            </a:r>
            <a:r>
              <a:rPr lang="en-IN" sz="2200" dirty="0">
                <a:solidFill>
                  <a:srgbClr val="002060"/>
                </a:solidFill>
              </a:rPr>
              <a:t>predicting</a:t>
            </a:r>
            <a:r>
              <a:rPr lang="en-US" sz="2200" dirty="0">
                <a:solidFill>
                  <a:srgbClr val="002060"/>
                </a:solidFill>
              </a:rPr>
              <a:t> Temperature and Humidity) </a:t>
            </a:r>
            <a:endParaRPr lang="en-IN" sz="2200" dirty="0">
              <a:solidFill>
                <a:srgbClr val="00206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B9C44-96D3-6B01-D7AC-209CA74C3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40353"/>
              </p:ext>
            </p:extLst>
          </p:nvPr>
        </p:nvGraphicFramePr>
        <p:xfrm>
          <a:off x="1768632" y="1882727"/>
          <a:ext cx="8127999" cy="164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409388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010255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1307163"/>
                    </a:ext>
                  </a:extLst>
                </a:gridCol>
              </a:tblGrid>
              <a:tr h="573489">
                <a:tc>
                  <a:txBody>
                    <a:bodyPr/>
                    <a:lstStyle/>
                    <a:p>
                      <a:r>
                        <a:rPr lang="en-US" sz="2000" dirty="0"/>
                        <a:t>CATEGORY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04262"/>
                  </a:ext>
                </a:extLst>
              </a:tr>
              <a:tr h="536727">
                <a:tc>
                  <a:txBody>
                    <a:bodyPr/>
                    <a:lstStyle/>
                    <a:p>
                      <a:r>
                        <a:rPr lang="en-US" dirty="0"/>
                        <a:t>Temperature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 err="1"/>
                        <a:t>RMSE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0.8395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836531"/>
                  </a:ext>
                </a:extLst>
              </a:tr>
              <a:tr h="536727">
                <a:tc>
                  <a:txBody>
                    <a:bodyPr/>
                    <a:lstStyle/>
                    <a:p>
                      <a:r>
                        <a:rPr lang="en-US" dirty="0"/>
                        <a:t>Humidity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</a:t>
                      </a:r>
                      <a:r>
                        <a:rPr lang="en-US" dirty="0" err="1"/>
                        <a:t>RMSE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8.8386 %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0237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1036FAC-BC34-4864-5916-20AE6B5C0425}"/>
              </a:ext>
            </a:extLst>
          </p:cNvPr>
          <p:cNvSpPr txBox="1"/>
          <p:nvPr/>
        </p:nvSpPr>
        <p:spPr>
          <a:xfrm>
            <a:off x="4369591" y="3741899"/>
            <a:ext cx="4558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Table-4 Testing Data stats for the LSTM ML model</a:t>
            </a:r>
            <a:endParaRPr lang="en-IN" sz="1200" dirty="0"/>
          </a:p>
          <a:p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B6AB0-C6AB-A51C-AE47-532C0ED5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1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57890E-85E3-4FA1-A6D3-78D0878DA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2EE356-A629-4F1A-9BAD-E21B3B10D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74AA3-A934-C335-0C2A-17BB33C9E0E9}"/>
              </a:ext>
            </a:extLst>
          </p:cNvPr>
          <p:cNvSpPr txBox="1"/>
          <p:nvPr/>
        </p:nvSpPr>
        <p:spPr>
          <a:xfrm>
            <a:off x="678955" y="976152"/>
            <a:ext cx="3555211" cy="5024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 u="sng">
                <a:latin typeface="+mj-lt"/>
                <a:ea typeface="+mj-ea"/>
                <a:cs typeface="+mj-cs"/>
              </a:rPr>
              <a:t>Future Scope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17483B-E60B-4F41-9448-D757B9FC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B44B66-1945-4638-8E9A-4F49493D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CB9B07-C3A9-7A74-EA5F-137F83E89C61}"/>
              </a:ext>
            </a:extLst>
          </p:cNvPr>
          <p:cNvSpPr txBox="1"/>
          <p:nvPr/>
        </p:nvSpPr>
        <p:spPr>
          <a:xfrm>
            <a:off x="504644" y="625415"/>
            <a:ext cx="3446253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315BD-14D2-0218-8E72-99CABD48EB37}"/>
              </a:ext>
            </a:extLst>
          </p:cNvPr>
          <p:cNvSpPr txBox="1"/>
          <p:nvPr/>
        </p:nvSpPr>
        <p:spPr>
          <a:xfrm>
            <a:off x="646981" y="1207698"/>
            <a:ext cx="1104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362C343C-DB00-D050-9C67-53FF21006A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360832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467F2C7-CFDC-17DF-FB65-2DEB8D21F5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17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FFBD19-F96E-3FA4-C9A3-138F78DD411C}"/>
              </a:ext>
            </a:extLst>
          </p:cNvPr>
          <p:cNvSpPr txBox="1"/>
          <p:nvPr/>
        </p:nvSpPr>
        <p:spPr>
          <a:xfrm>
            <a:off x="442912" y="561291"/>
            <a:ext cx="83238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Cost of the prototype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BB1F32-C23D-0DB3-BC49-546910262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110646"/>
              </p:ext>
            </p:extLst>
          </p:nvPr>
        </p:nvGraphicFramePr>
        <p:xfrm>
          <a:off x="560070" y="1269177"/>
          <a:ext cx="1133856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176165367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1064876493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1598566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Estimated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08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Data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Utilization of Open-</a:t>
                      </a:r>
                      <a:r>
                        <a:rPr lang="en-IN" sz="2200" dirty="0" err="1"/>
                        <a:t>Meteo</a:t>
                      </a:r>
                      <a:r>
                        <a:rPr lang="en-IN" sz="2200" dirty="0"/>
                        <a:t> &amp; </a:t>
                      </a:r>
                      <a:r>
                        <a:rPr lang="en-IN" sz="2200" dirty="0" err="1"/>
                        <a:t>OpenWeatherMap</a:t>
                      </a:r>
                      <a:r>
                        <a:rPr lang="en-IN" sz="2200" dirty="0"/>
                        <a:t> APIs (Free tiers)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₹0 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655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Software &amp;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Python, Scikit-learn, Pandas, Matplotlib (Open 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₹0 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96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Compute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Local Workstation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₹0 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5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Hardware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Sensor </a:t>
                      </a:r>
                      <a:r>
                        <a:rPr lang="en-IN" sz="2200" dirty="0" err="1"/>
                        <a:t>Microconcontroller</a:t>
                      </a:r>
                      <a:r>
                        <a:rPr lang="en-IN" sz="2200" dirty="0"/>
                        <a:t> wire etc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₹400 ~ ₹600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081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 err="1"/>
                        <a:t>Misc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Printing, binding, and incidental research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Minimal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65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₹700-₹800 (approx.)</a:t>
                      </a:r>
                      <a:endParaRPr lang="en-IN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7791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B03F50-2BAA-6640-761C-4A27FA25D031}"/>
              </a:ext>
            </a:extLst>
          </p:cNvPr>
          <p:cNvSpPr txBox="1"/>
          <p:nvPr/>
        </p:nvSpPr>
        <p:spPr>
          <a:xfrm>
            <a:off x="5679075" y="5988932"/>
            <a:ext cx="1725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Table-5 Finance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875BF-07D6-9943-7636-910F57A32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91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BFC197-AC01-5B3C-9038-A914DFEA43B4}"/>
              </a:ext>
            </a:extLst>
          </p:cNvPr>
          <p:cNvSpPr txBox="1"/>
          <p:nvPr/>
        </p:nvSpPr>
        <p:spPr>
          <a:xfrm>
            <a:off x="508958" y="698740"/>
            <a:ext cx="28639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002060"/>
                </a:solidFill>
              </a:rPr>
              <a:t>Conclusion</a:t>
            </a:r>
            <a:endParaRPr lang="en-IN" sz="2200" b="1" u="sng" dirty="0">
              <a:solidFill>
                <a:srgbClr val="002060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3C3C092-E97A-7053-469D-59ADC2A1A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865723"/>
              </p:ext>
            </p:extLst>
          </p:nvPr>
        </p:nvGraphicFramePr>
        <p:xfrm>
          <a:off x="923026" y="1337094"/>
          <a:ext cx="9834114" cy="4744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CF3C99-7258-210C-4362-C76E20E3BD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54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B2CB2-FC85-D9CF-B18B-790CB5D058D5}"/>
              </a:ext>
            </a:extLst>
          </p:cNvPr>
          <p:cNvSpPr txBox="1"/>
          <p:nvPr/>
        </p:nvSpPr>
        <p:spPr>
          <a:xfrm>
            <a:off x="568643" y="400437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50268-2CDB-24C9-B789-DE2131B7B524}"/>
              </a:ext>
            </a:extLst>
          </p:cNvPr>
          <p:cNvSpPr txBox="1"/>
          <p:nvPr/>
        </p:nvSpPr>
        <p:spPr>
          <a:xfrm>
            <a:off x="691514" y="1188720"/>
            <a:ext cx="110356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[1]Deepa Sharma and Punam Rattan, "Rainfall Prediction using Random Forest and </a:t>
            </a:r>
            <a:r>
              <a:rPr lang="en-IN" sz="1600" dirty="0" err="1"/>
              <a:t>XGBoost</a:t>
            </a:r>
            <a:r>
              <a:rPr lang="en-IN" sz="1600" dirty="0"/>
              <a:t> – A Comparative Study," </a:t>
            </a:r>
            <a:r>
              <a:rPr lang="en-IN" sz="1600" i="1" dirty="0"/>
              <a:t>Proceedings of the 5th International Conference on Data Intelligence and Cognitive Informatics (</a:t>
            </a:r>
            <a:r>
              <a:rPr lang="en-IN" sz="1600" i="1" dirty="0" err="1"/>
              <a:t>ICDICI</a:t>
            </a:r>
            <a:r>
              <a:rPr lang="en-IN" sz="1600" i="1" dirty="0"/>
              <a:t>)</a:t>
            </a:r>
            <a:r>
              <a:rPr lang="en-IN" sz="1600" dirty="0"/>
              <a:t>, IEEE, 2024, </a:t>
            </a:r>
            <a:r>
              <a:rPr lang="en-IN" sz="1600" dirty="0" err="1"/>
              <a:t>doi</a:t>
            </a:r>
            <a:r>
              <a:rPr lang="en-IN" sz="1600" dirty="0"/>
              <a:t>: </a:t>
            </a:r>
            <a:r>
              <a:rPr lang="en-IN" sz="1600" b="1" dirty="0"/>
              <a:t>10.1109/</a:t>
            </a:r>
            <a:r>
              <a:rPr lang="en-IN" sz="1600" b="1" dirty="0" err="1"/>
              <a:t>ICDICI62993.2024.10810907</a:t>
            </a:r>
            <a:r>
              <a:rPr lang="en-IN" sz="16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[2]Jagadeshwari </a:t>
            </a:r>
            <a:r>
              <a:rPr lang="en-IN" sz="1600" dirty="0" err="1"/>
              <a:t>Puttanapura</a:t>
            </a:r>
            <a:r>
              <a:rPr lang="en-IN" sz="1600" dirty="0"/>
              <a:t>, Monika Singh T., C. Kishor Kumar Reddy, and Srinath Doss, "Improvised Prediction of Rainfall using Random Forest Classifier Over Taiwan," </a:t>
            </a:r>
            <a:r>
              <a:rPr lang="en-IN" sz="1600" i="1" dirty="0"/>
              <a:t>Proceedings of the 4th International Conference on Soft Computing for Security Applications (</a:t>
            </a:r>
            <a:r>
              <a:rPr lang="en-IN" sz="1600" i="1" dirty="0" err="1"/>
              <a:t>ICSCSA</a:t>
            </a:r>
            <a:r>
              <a:rPr lang="en-IN" sz="1600" i="1" dirty="0"/>
              <a:t>)</a:t>
            </a:r>
            <a:r>
              <a:rPr lang="en-IN" sz="1600" dirty="0"/>
              <a:t>, IEEE, 2024, </a:t>
            </a:r>
            <a:r>
              <a:rPr lang="en-IN" sz="1600" dirty="0" err="1"/>
              <a:t>doi</a:t>
            </a:r>
            <a:r>
              <a:rPr lang="en-IN" sz="1600" dirty="0"/>
              <a:t>: </a:t>
            </a:r>
            <a:r>
              <a:rPr lang="en-IN" sz="1600" b="1" dirty="0"/>
              <a:t>10.1109/</a:t>
            </a:r>
            <a:r>
              <a:rPr lang="en-IN" sz="1600" b="1" dirty="0" err="1"/>
              <a:t>ICSCSA64454.2024.00031</a:t>
            </a:r>
            <a:r>
              <a:rPr lang="en-IN" sz="16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[3]Abhinav Jain and Gargi Sharma, "Enhancing Weather Prediction Accuracy with Gradient Boosting: A Machine Learning Approach," </a:t>
            </a:r>
            <a:r>
              <a:rPr lang="en-IN" sz="1600" i="1" dirty="0"/>
              <a:t>Proceedings of the 2nd International Conference on Computational Intelligence, Communication Technology and Networking (</a:t>
            </a:r>
            <a:r>
              <a:rPr lang="en-IN" sz="1600" i="1" dirty="0" err="1"/>
              <a:t>CICTN</a:t>
            </a:r>
            <a:r>
              <a:rPr lang="en-IN" sz="1600" i="1" dirty="0"/>
              <a:t>)</a:t>
            </a:r>
            <a:r>
              <a:rPr lang="en-IN" sz="1600" dirty="0"/>
              <a:t>, IEEE, 2025, </a:t>
            </a:r>
            <a:r>
              <a:rPr lang="en-IN" sz="1600" dirty="0" err="1"/>
              <a:t>doi</a:t>
            </a:r>
            <a:r>
              <a:rPr lang="en-IN" sz="1600" dirty="0"/>
              <a:t>: </a:t>
            </a:r>
            <a:r>
              <a:rPr lang="en-IN" sz="1600" b="1" dirty="0"/>
              <a:t>10.1109/</a:t>
            </a:r>
            <a:r>
              <a:rPr lang="en-IN" sz="1600" b="1" dirty="0" err="1"/>
              <a:t>CICTN64563.2025.10932431</a:t>
            </a:r>
            <a:r>
              <a:rPr lang="en-IN" sz="16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[4]</a:t>
            </a:r>
            <a:r>
              <a:rPr lang="en-IN" sz="1600" dirty="0" err="1"/>
              <a:t>Premananda</a:t>
            </a:r>
            <a:r>
              <a:rPr lang="en-IN" sz="1600" dirty="0"/>
              <a:t> Sahu, Rakesh Kumar Yadav, Lalita Kumari, Sunil Kumar, and Prakash Srivastava, "Explainable AI-Powered and Machine Learning Approach for Heavy Rainfall Prediction," </a:t>
            </a:r>
            <a:r>
              <a:rPr lang="en-IN" sz="1600" i="1" dirty="0"/>
              <a:t>Proceedings of the 12th International Conference on Reliability, Infocom Technologies and Optimization (</a:t>
            </a:r>
            <a:r>
              <a:rPr lang="en-IN" sz="1600" i="1" dirty="0" err="1"/>
              <a:t>ICRITO</a:t>
            </a:r>
            <a:r>
              <a:rPr lang="en-IN" sz="1600" i="1" dirty="0"/>
              <a:t>)</a:t>
            </a:r>
            <a:r>
              <a:rPr lang="en-IN" sz="1600" dirty="0"/>
              <a:t>, IEEE, 2025, </a:t>
            </a:r>
            <a:r>
              <a:rPr lang="en-IN" sz="1600" dirty="0" err="1"/>
              <a:t>doi</a:t>
            </a:r>
            <a:r>
              <a:rPr lang="en-IN" sz="1600" dirty="0"/>
              <a:t>: </a:t>
            </a:r>
            <a:r>
              <a:rPr lang="en-IN" sz="1600" b="1" dirty="0"/>
              <a:t>10.1109/</a:t>
            </a:r>
            <a:r>
              <a:rPr lang="en-IN" sz="1600" b="1" dirty="0" err="1"/>
              <a:t>ICRITO66076.2025.11241873</a:t>
            </a:r>
            <a:r>
              <a:rPr lang="en-IN" sz="1600" dirty="0"/>
              <a:t>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[5]S. P. Siddique Ibrahim, N. Venkata Harika, N. Mohitha Reddy, K. Srija, P. Shiva Sahithi, and A. Kohima, "Application of Machine Learning and Data Mining Techniques for Accurate Cloud Burst Prediction," </a:t>
            </a:r>
            <a:r>
              <a:rPr lang="en-IN" sz="1600" i="1" dirty="0"/>
              <a:t>Proceedings of the International Conference on IoT Based Control Networks and Intelligent Systems (</a:t>
            </a:r>
            <a:r>
              <a:rPr lang="en-IN" sz="1600" i="1" dirty="0" err="1"/>
              <a:t>ICICNIS</a:t>
            </a:r>
            <a:r>
              <a:rPr lang="en-IN" sz="1600" i="1" dirty="0"/>
              <a:t>)</a:t>
            </a:r>
            <a:r>
              <a:rPr lang="en-IN" sz="1600" dirty="0"/>
              <a:t>, IEEE, 2024, </a:t>
            </a:r>
            <a:r>
              <a:rPr lang="en-IN" sz="1600" dirty="0" err="1"/>
              <a:t>doi</a:t>
            </a:r>
            <a:r>
              <a:rPr lang="en-IN" sz="1600" dirty="0"/>
              <a:t>: </a:t>
            </a:r>
            <a:r>
              <a:rPr lang="en-IN" sz="1600" b="1" dirty="0"/>
              <a:t>10.1109/</a:t>
            </a:r>
            <a:r>
              <a:rPr lang="en-IN" sz="1600" b="1" dirty="0" err="1"/>
              <a:t>ICICNIS64247.2024.10823388</a:t>
            </a:r>
            <a:r>
              <a:rPr lang="en-IN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B0551-23EC-AB3A-3157-1C44BC2F5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59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B1BC7-BA82-2C2E-452F-B47806224722}"/>
              </a:ext>
            </a:extLst>
          </p:cNvPr>
          <p:cNvSpPr txBox="1"/>
          <p:nvPr/>
        </p:nvSpPr>
        <p:spPr>
          <a:xfrm>
            <a:off x="568643" y="400437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455BB-6597-4EF9-AE43-E6171B772260}"/>
              </a:ext>
            </a:extLst>
          </p:cNvPr>
          <p:cNvSpPr txBox="1"/>
          <p:nvPr/>
        </p:nvSpPr>
        <p:spPr>
          <a:xfrm>
            <a:off x="691514" y="1274980"/>
            <a:ext cx="110356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[6] I. </a:t>
            </a:r>
            <a:r>
              <a:rPr lang="en-IN" sz="1600" dirty="0" err="1"/>
              <a:t>Salehin</a:t>
            </a:r>
            <a:r>
              <a:rPr lang="en-IN" sz="1600" dirty="0"/>
              <a:t>, I. M. Talha, M. Mehedi Hasan, S. T. Dip, M. </a:t>
            </a:r>
            <a:r>
              <a:rPr lang="en-IN" sz="1600" dirty="0" err="1"/>
              <a:t>Saifuzzaman</a:t>
            </a:r>
            <a:r>
              <a:rPr lang="en-IN" sz="1600" dirty="0"/>
              <a:t> and N. N. Moon, “An Artificial Intelligence Based Rainfall Prediction Using LSTM and Neural Network,” 2020 IEEE International Women in Engineering (WIE) Conference on Electrical and Computer Engineering (</a:t>
            </a:r>
            <a:r>
              <a:rPr lang="en-IN" sz="1600" dirty="0" err="1"/>
              <a:t>WIECON</a:t>
            </a:r>
            <a:r>
              <a:rPr lang="en-IN" sz="1600" dirty="0"/>
              <a:t>-ECE), Bhubaneswar, India, 2020.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[7] Priya A Nandini, Bhargavi </a:t>
            </a:r>
            <a:r>
              <a:rPr lang="en-IN" sz="1600" dirty="0" err="1"/>
              <a:t>Meenavalli</a:t>
            </a:r>
            <a:r>
              <a:rPr lang="en-IN" sz="1600" dirty="0"/>
              <a:t>, Adarsha </a:t>
            </a:r>
            <a:r>
              <a:rPr lang="en-IN" sz="1600" dirty="0" err="1"/>
              <a:t>Puttamreddy</a:t>
            </a:r>
            <a:r>
              <a:rPr lang="en-IN" sz="1600" dirty="0"/>
              <a:t>, </a:t>
            </a:r>
            <a:r>
              <a:rPr lang="en-IN" sz="1600" dirty="0" err="1"/>
              <a:t>Jatoth</a:t>
            </a:r>
            <a:r>
              <a:rPr lang="en-IN" sz="1600" dirty="0"/>
              <a:t> </a:t>
            </a:r>
            <a:r>
              <a:rPr lang="en-IN" sz="1600" dirty="0" err="1"/>
              <a:t>Meghana,Nilima</a:t>
            </a:r>
            <a:r>
              <a:rPr lang="en-IN" sz="1600" dirty="0"/>
              <a:t> Kataria, Lalita Gupta “Prediction of Rainfall using Random </a:t>
            </a:r>
            <a:r>
              <a:rPr lang="en-IN" sz="1600" dirty="0" err="1"/>
              <a:t>Forest”,2022</a:t>
            </a:r>
            <a:r>
              <a:rPr lang="en-IN" sz="1600" dirty="0"/>
              <a:t> IEEE International Students' Conference on Electrical, Electronics and Computer Science (</a:t>
            </a:r>
            <a:r>
              <a:rPr lang="en-IN" sz="1600" dirty="0" err="1"/>
              <a:t>SCEECS</a:t>
            </a:r>
            <a:r>
              <a:rPr lang="en-IN" sz="1600" dirty="0"/>
              <a:t>),2022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[8] A. Chand and R. Nand, “Rainfall prediction using Artificial Neural Network in the South Pacific region,” 2019 IEEE Asia-Pacific Conference on Computer Science and Data Engineering (</a:t>
            </a:r>
            <a:r>
              <a:rPr lang="en-IN" sz="1600" dirty="0" err="1"/>
              <a:t>CSDE</a:t>
            </a:r>
            <a:r>
              <a:rPr lang="en-IN" sz="1600" dirty="0"/>
              <a:t>), Melbourne, VIC, Australia, 2019.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[9] M. Patel and A. Shah, “Feature Importance in Machine Learning with Explainable Artificial Intelligence (XAI) for Rainfall Prediction,” in </a:t>
            </a:r>
            <a:r>
              <a:rPr lang="en-IN" sz="1600" dirty="0" err="1"/>
              <a:t>ITM</a:t>
            </a:r>
            <a:r>
              <a:rPr lang="en-IN" sz="1600" dirty="0"/>
              <a:t> Web of Conferences, EDP Sciences, vol. 65, p. 03007, 2024.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[10] Zhang, Yushan, Kun Wu, </a:t>
            </a:r>
            <a:r>
              <a:rPr lang="en-IN" sz="1600" dirty="0" err="1"/>
              <a:t>Jinglin</a:t>
            </a:r>
            <a:r>
              <a:rPr lang="en-IN" sz="1600" dirty="0"/>
              <a:t> Zhang, Feng Zhang, Haixia Xiao, </a:t>
            </a:r>
            <a:r>
              <a:rPr lang="en-IN" sz="1600" dirty="0" err="1"/>
              <a:t>Fuchang</a:t>
            </a:r>
            <a:r>
              <a:rPr lang="en-IN" sz="1600" dirty="0"/>
              <a:t> Wang, </a:t>
            </a:r>
            <a:r>
              <a:rPr lang="en-IN" sz="1600" dirty="0" err="1"/>
              <a:t>Jianyin</a:t>
            </a:r>
            <a:r>
              <a:rPr lang="en-IN" sz="1600" dirty="0"/>
              <a:t> Zhou, Yi Song, and Liang Peng, “Estimating Rainfall with Multi-Resource Data over East Asia Based on Machine Learning”, Remote Sensing, 2021.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/>
              <a:t>[11] Yang, Huang., George, P., Petropoulos., </a:t>
            </a:r>
            <a:r>
              <a:rPr lang="en-IN" sz="1600" dirty="0" err="1"/>
              <a:t>Qifeng</a:t>
            </a:r>
            <a:r>
              <a:rPr lang="en-IN" sz="1600" dirty="0"/>
              <a:t>, Lu., Yanfeng, Huo., Fu, Wang. “Precipitation Estimation Using FY-</a:t>
            </a:r>
            <a:r>
              <a:rPr lang="en-IN" sz="1600" dirty="0" err="1"/>
              <a:t>4B</a:t>
            </a:r>
            <a:r>
              <a:rPr lang="en-IN" sz="1600" dirty="0"/>
              <a:t>/AGRI Satellite Data Based on Random Forest.” Remote </a:t>
            </a:r>
            <a:r>
              <a:rPr lang="en-IN" sz="1600" dirty="0" err="1"/>
              <a:t>sensing,2024</a:t>
            </a:r>
            <a:r>
              <a:rPr lang="en-IN" sz="16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A2D74-D83E-FA96-808F-A43340B43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2" y="7410"/>
            <a:ext cx="911669" cy="9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91877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1639</Words>
  <Application>Microsoft Office PowerPoint</Application>
  <PresentationFormat>Widescreen</PresentationFormat>
  <Paragraphs>218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Seaford</vt:lpstr>
      <vt:lpstr>Times New Roman</vt:lpstr>
      <vt:lpstr>Wingdings</vt:lpstr>
      <vt:lpstr>LevelVTI</vt:lpstr>
      <vt:lpstr>ANALYSIS AND PREDICTION OF WEATHER PATTERNS USING SATELLITE OBSERVATIONS AND MACHINE LEARNING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Arunangshu Ghosh</dc:creator>
  <cp:lastModifiedBy>Arunangshu Ghosh</cp:lastModifiedBy>
  <cp:revision>41</cp:revision>
  <cp:lastPrinted>2026-07-11T16:35:02Z</cp:lastPrinted>
  <dcterms:created xsi:type="dcterms:W3CDTF">2026-07-08T05:20:57Z</dcterms:created>
  <dcterms:modified xsi:type="dcterms:W3CDTF">2026-07-12T14:43:49Z</dcterms:modified>
</cp:coreProperties>
</file>